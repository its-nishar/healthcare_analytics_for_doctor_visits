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0"/>
  </p:notesMasterIdLst>
  <p:handoutMasterIdLst>
    <p:handoutMasterId r:id="rId31"/>
  </p:handoutMasterIdLst>
  <p:sldIdLst>
    <p:sldId id="338" r:id="rId5"/>
    <p:sldId id="327" r:id="rId6"/>
    <p:sldId id="315" r:id="rId7"/>
    <p:sldId id="329" r:id="rId8"/>
    <p:sldId id="302" r:id="rId9"/>
    <p:sldId id="339" r:id="rId10"/>
    <p:sldId id="340" r:id="rId11"/>
    <p:sldId id="341" r:id="rId12"/>
    <p:sldId id="344" r:id="rId13"/>
    <p:sldId id="343" r:id="rId14"/>
    <p:sldId id="348" r:id="rId15"/>
    <p:sldId id="347" r:id="rId16"/>
    <p:sldId id="346" r:id="rId17"/>
    <p:sldId id="345" r:id="rId18"/>
    <p:sldId id="342" r:id="rId19"/>
    <p:sldId id="351" r:id="rId20"/>
    <p:sldId id="350" r:id="rId21"/>
    <p:sldId id="349" r:id="rId22"/>
    <p:sldId id="354" r:id="rId23"/>
    <p:sldId id="353" r:id="rId24"/>
    <p:sldId id="352" r:id="rId25"/>
    <p:sldId id="356" r:id="rId26"/>
    <p:sldId id="355" r:id="rId27"/>
    <p:sldId id="304" r:id="rId28"/>
    <p:sldId id="35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73313" y="5044470"/>
            <a:ext cx="5103845" cy="861497"/>
          </a:xfrm>
        </p:spPr>
        <p:txBody>
          <a:bodyPr>
            <a:normAutofit/>
          </a:bodyPr>
          <a:lstStyle/>
          <a:p>
            <a:r>
              <a:rPr lang="en-US" sz="1600" dirty="0">
                <a:solidFill>
                  <a:schemeClr val="tx1"/>
                </a:solidFill>
              </a:rPr>
              <a:t>NAME : </a:t>
            </a:r>
            <a:r>
              <a:rPr lang="en-US" sz="1600" b="0" dirty="0">
                <a:solidFill>
                  <a:schemeClr val="tx1"/>
                </a:solidFill>
              </a:rPr>
              <a:t>NISHA R</a:t>
            </a:r>
            <a:br>
              <a:rPr lang="en-US" sz="1600" b="0" dirty="0">
                <a:solidFill>
                  <a:schemeClr val="tx1"/>
                </a:solidFill>
              </a:rPr>
            </a:br>
            <a:r>
              <a:rPr lang="en-US" sz="1600" dirty="0">
                <a:solidFill>
                  <a:schemeClr val="tx1"/>
                </a:solidFill>
              </a:rPr>
              <a:t>AICTE STUDENT ID : </a:t>
            </a:r>
            <a:r>
              <a:rPr lang="en-IN" sz="1600" b="0" dirty="0"/>
              <a:t>STU6a6b5fa76dafc1785421735</a:t>
            </a:r>
            <a:br>
              <a:rPr lang="en-IN" sz="1600" b="0" dirty="0"/>
            </a:br>
            <a:r>
              <a:rPr lang="en-IN" sz="1600" dirty="0">
                <a:solidFill>
                  <a:schemeClr val="tx1"/>
                </a:solidFill>
              </a:rPr>
              <a:t>COLLEGE NAME : </a:t>
            </a:r>
            <a:r>
              <a:rPr lang="en-IN" sz="1600" b="0" dirty="0">
                <a:solidFill>
                  <a:schemeClr val="tx1"/>
                </a:solidFill>
              </a:rPr>
              <a:t>RAMCO INSTITUTE OF TECHNOLOGY</a:t>
            </a: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10549" y="2558128"/>
            <a:ext cx="11050334" cy="666621"/>
          </a:xfrm>
        </p:spPr>
        <p:txBody>
          <a:bodyPr>
            <a:noAutofit/>
          </a:bodyPr>
          <a:lstStyle/>
          <a:p>
            <a:pPr algn="ctr"/>
            <a:r>
              <a:rPr lang="en-IN" sz="4300" dirty="0"/>
              <a:t>HEALTHCARE ANALYTICS FOR DOCTOR VISITS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79" y="2435290"/>
            <a:ext cx="8657357" cy="3048253"/>
          </a:xfrm>
        </p:spPr>
        <p:txBody>
          <a:bodyPr>
            <a:normAutofit/>
          </a:bodyPr>
          <a:lstStyle/>
          <a:p>
            <a:r>
              <a:rPr lang="en-IN" sz="1900" dirty="0"/>
              <a:t>Doctor visits can vary based on a person's age, health condition, illness level, lifestyle limitations, and access to healthcare. However, raw healthcare data does not immediately reveal these patterns.</a:t>
            </a:r>
          </a:p>
          <a:p>
            <a:r>
              <a:rPr lang="en-IN" sz="1900" dirty="0"/>
              <a:t>The objective of this project is to </a:t>
            </a:r>
            <a:r>
              <a:rPr lang="en-IN" sz="1900" dirty="0" err="1"/>
              <a:t>analyze</a:t>
            </a:r>
            <a:r>
              <a:rPr lang="en-IN" sz="1900" dirty="0"/>
              <a:t> doctor-visit data and identify meaningful relationships between patient characteristics, health conditions, healthcare access, and the number of doctor visits.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91925" y="1147488"/>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508868" y="3509616"/>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BDFD5D37-C05B-410C-3CD1-42352B8817C1}"/>
              </a:ext>
            </a:extLst>
          </p:cNvPr>
          <p:cNvSpPr txBox="1"/>
          <p:nvPr/>
        </p:nvSpPr>
        <p:spPr>
          <a:xfrm>
            <a:off x="675957" y="2043404"/>
            <a:ext cx="8803945" cy="3970318"/>
          </a:xfrm>
          <a:prstGeom prst="rect">
            <a:avLst/>
          </a:prstGeom>
          <a:noFill/>
        </p:spPr>
        <p:txBody>
          <a:bodyPr wrap="square" rtlCol="0">
            <a:spAutoFit/>
          </a:bodyPr>
          <a:lstStyle/>
          <a:p>
            <a:pPr marL="285750" indent="-285750">
              <a:buClr>
                <a:schemeClr val="accent3">
                  <a:lumMod val="75000"/>
                </a:schemeClr>
              </a:buClr>
              <a:buFont typeface="Wingdings" panose="05000000000000000000" pitchFamily="2" charset="2"/>
              <a:buChar char="§"/>
            </a:pPr>
            <a:r>
              <a:rPr lang="en-IN" dirty="0"/>
              <a:t>This project </a:t>
            </a:r>
            <a:r>
              <a:rPr lang="en-IN" dirty="0" err="1"/>
              <a:t>analyzes</a:t>
            </a:r>
            <a:r>
              <a:rPr lang="en-IN" dirty="0"/>
              <a:t> a healthcare dataset containing 5,190 records and 13 original variables related to doctor visits.</a:t>
            </a:r>
          </a:p>
          <a:p>
            <a:pPr marL="285750" indent="-285750">
              <a:buClr>
                <a:schemeClr val="accent3">
                  <a:lumMod val="75000"/>
                </a:schemeClr>
              </a:buClr>
              <a:buFont typeface="Wingdings" panose="05000000000000000000" pitchFamily="2" charset="2"/>
              <a:buChar char="§"/>
            </a:pPr>
            <a:r>
              <a:rPr lang="en-IN" dirty="0"/>
              <a:t>The analysis focuses on:</a:t>
            </a:r>
          </a:p>
          <a:p>
            <a:pPr marL="1714500" lvl="3" indent="-342900">
              <a:buFont typeface="+mj-lt"/>
              <a:buAutoNum type="alphaLcPeriod"/>
            </a:pPr>
            <a:r>
              <a:rPr lang="en-IN" dirty="0"/>
              <a:t>Doctor visit patterns </a:t>
            </a:r>
          </a:p>
          <a:p>
            <a:pPr marL="1714500" lvl="3" indent="-342900">
              <a:buFont typeface="+mj-lt"/>
              <a:buAutoNum type="alphaLcPeriod"/>
            </a:pPr>
            <a:r>
              <a:rPr lang="en-IN" dirty="0"/>
              <a:t>Age and gender </a:t>
            </a:r>
          </a:p>
          <a:p>
            <a:pPr marL="1714500" lvl="3" indent="-342900">
              <a:buFont typeface="+mj-lt"/>
              <a:buAutoNum type="alphaLcPeriod"/>
            </a:pPr>
            <a:r>
              <a:rPr lang="en-IN" dirty="0"/>
              <a:t>Income </a:t>
            </a:r>
          </a:p>
          <a:p>
            <a:pPr marL="1714500" lvl="3" indent="-342900">
              <a:buFont typeface="+mj-lt"/>
              <a:buAutoNum type="alphaLcPeriod"/>
            </a:pPr>
            <a:r>
              <a:rPr lang="en-IN" dirty="0"/>
              <a:t>Illness and reduced activity </a:t>
            </a:r>
          </a:p>
          <a:p>
            <a:pPr marL="1714500" lvl="3" indent="-342900">
              <a:buFont typeface="+mj-lt"/>
              <a:buAutoNum type="alphaLcPeriod"/>
            </a:pPr>
            <a:r>
              <a:rPr lang="en-IN" dirty="0"/>
              <a:t>General health condition </a:t>
            </a:r>
          </a:p>
          <a:p>
            <a:pPr marL="1714500" lvl="3" indent="-342900">
              <a:buFont typeface="+mj-lt"/>
              <a:buAutoNum type="alphaLcPeriod"/>
            </a:pPr>
            <a:r>
              <a:rPr lang="en-IN" dirty="0"/>
              <a:t>Chronic conditions </a:t>
            </a:r>
          </a:p>
          <a:p>
            <a:pPr marL="1714500" lvl="3" indent="-342900">
              <a:buFont typeface="+mj-lt"/>
              <a:buAutoNum type="alphaLcPeriod"/>
            </a:pPr>
            <a:r>
              <a:rPr lang="en-IN" dirty="0"/>
              <a:t>Healthcare access and coverage </a:t>
            </a:r>
          </a:p>
          <a:p>
            <a:pPr lvl="3"/>
            <a:endParaRPr lang="en-IN" dirty="0"/>
          </a:p>
          <a:p>
            <a:pPr marL="285750" indent="-285750">
              <a:buClr>
                <a:schemeClr val="accent3">
                  <a:lumMod val="75000"/>
                </a:schemeClr>
              </a:buClr>
              <a:buFont typeface="Wingdings" panose="05000000000000000000" pitchFamily="2" charset="2"/>
              <a:buChar char="§"/>
            </a:pPr>
            <a:r>
              <a:rPr lang="en-IN" dirty="0"/>
              <a:t>The project uses Python-based data analysis and visualization to transform raw healthcare data into meaningful insights.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60" y="1515499"/>
            <a:ext cx="8772228" cy="4941745"/>
          </a:xfrm>
        </p:spPr>
        <p:txBody>
          <a:bodyPr>
            <a:normAutofit/>
          </a:bodyPr>
          <a:lstStyle/>
          <a:p>
            <a:endParaRPr lang="en-IN" sz="1800" b="1" dirty="0"/>
          </a:p>
          <a:p>
            <a:r>
              <a:rPr lang="en-IN" sz="1800" b="1" dirty="0"/>
              <a:t>Healthcare Providers</a:t>
            </a:r>
            <a:br>
              <a:rPr lang="en-IN" sz="1800" dirty="0"/>
            </a:br>
            <a:r>
              <a:rPr lang="en-IN" sz="1800" dirty="0"/>
              <a:t>Understand patterns in healthcare utilization.</a:t>
            </a:r>
          </a:p>
          <a:p>
            <a:r>
              <a:rPr lang="en-IN" sz="1800" b="1" dirty="0"/>
              <a:t>Healthcare Administrators</a:t>
            </a:r>
            <a:br>
              <a:rPr lang="en-IN" sz="1800" dirty="0"/>
            </a:br>
            <a:r>
              <a:rPr lang="en-IN" sz="1800" dirty="0"/>
              <a:t>Identify groups with higher healthcare usage.</a:t>
            </a:r>
          </a:p>
          <a:p>
            <a:r>
              <a:rPr lang="en-IN" sz="1800" b="1" dirty="0"/>
              <a:t>Healthcare Researchers</a:t>
            </a:r>
            <a:br>
              <a:rPr lang="en-IN" sz="1800" dirty="0"/>
            </a:br>
            <a:r>
              <a:rPr lang="en-IN" sz="1800" dirty="0"/>
              <a:t>Study relationships between health conditions and doctor visits.</a:t>
            </a:r>
          </a:p>
          <a:p>
            <a:r>
              <a:rPr lang="en-IN" sz="1800" b="1" dirty="0"/>
              <a:t>Policy &amp; Planning Teams</a:t>
            </a:r>
            <a:br>
              <a:rPr lang="en-IN" sz="1800" dirty="0"/>
            </a:br>
            <a:r>
              <a:rPr lang="en-IN" sz="1800" dirty="0"/>
              <a:t>Use analytical insights to support healthcare resource planning.</a:t>
            </a:r>
          </a:p>
          <a:p>
            <a:endParaRPr lang="en-IN" sz="1800" dirty="0"/>
          </a:p>
          <a:p>
            <a:pPr marL="0" indent="0">
              <a:buNone/>
            </a:pPr>
            <a:r>
              <a:rPr lang="en-IN" sz="1800" dirty="0"/>
              <a:t>“The analysis can be useful for healthcare providers, administrators, researchers, and planning teams who need to understand healthcare utilization patterns.”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70719" y="712858"/>
            <a:ext cx="10046070" cy="802641"/>
          </a:xfrm>
        </p:spPr>
        <p:txBody>
          <a:bodyPr>
            <a:normAutofit/>
          </a:bodyPr>
          <a:lstStyle/>
          <a:p>
            <a:r>
              <a:rPr lang="en-US" sz="4300" dirty="0"/>
              <a:t>WHO ARE THE END USERS?</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1000"/>
                                        <p:tgtEl>
                                          <p:spTgt spid="2">
                                            <p:txEl>
                                              <p:pRg st="6" end="6"/>
                                            </p:txEl>
                                          </p:spTgt>
                                        </p:tgtEl>
                                      </p:cBhvr>
                                    </p:animEffect>
                                    <p:anim calcmode="lin" valueType="num">
                                      <p:cBhvr>
                                        <p:cTn id="43"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4352420"/>
          </a:xfrm>
        </p:spPr>
        <p:txBody>
          <a:bodyPr/>
          <a:lstStyle/>
          <a:p>
            <a:pPr lvl="5">
              <a:buFont typeface="Wingdings" panose="05000000000000000000" pitchFamily="2" charset="2"/>
              <a:buChar char="§"/>
            </a:pPr>
            <a:r>
              <a:rPr lang="en-IN" sz="1800" dirty="0"/>
              <a:t>Python </a:t>
            </a:r>
          </a:p>
          <a:p>
            <a:pPr lvl="5">
              <a:buFont typeface="Wingdings" panose="05000000000000000000" pitchFamily="2" charset="2"/>
              <a:buChar char="§"/>
            </a:pPr>
            <a:r>
              <a:rPr lang="en-IN" sz="1800" dirty="0"/>
              <a:t>Google </a:t>
            </a:r>
            <a:r>
              <a:rPr lang="en-IN" sz="1800" dirty="0" err="1"/>
              <a:t>Colab</a:t>
            </a:r>
            <a:r>
              <a:rPr lang="en-IN" sz="1800" dirty="0"/>
              <a:t> </a:t>
            </a:r>
          </a:p>
          <a:p>
            <a:pPr lvl="5">
              <a:buFont typeface="Wingdings" panose="05000000000000000000" pitchFamily="2" charset="2"/>
              <a:buChar char="§"/>
            </a:pPr>
            <a:r>
              <a:rPr lang="en-IN" sz="1800" dirty="0"/>
              <a:t>Pandas </a:t>
            </a:r>
          </a:p>
          <a:p>
            <a:pPr lvl="5">
              <a:buFont typeface="Wingdings" panose="05000000000000000000" pitchFamily="2" charset="2"/>
              <a:buChar char="§"/>
            </a:pPr>
            <a:r>
              <a:rPr lang="en-IN" sz="1800" dirty="0"/>
              <a:t>NumPy </a:t>
            </a:r>
          </a:p>
          <a:p>
            <a:pPr lvl="5">
              <a:buFont typeface="Wingdings" panose="05000000000000000000" pitchFamily="2" charset="2"/>
              <a:buChar char="§"/>
            </a:pPr>
            <a:r>
              <a:rPr lang="en-IN" sz="1800" dirty="0"/>
              <a:t>Matplotlib </a:t>
            </a:r>
          </a:p>
          <a:p>
            <a:pPr lvl="5">
              <a:buFont typeface="Wingdings" panose="05000000000000000000" pitchFamily="2" charset="2"/>
              <a:buChar char="§"/>
            </a:pPr>
            <a:r>
              <a:rPr lang="en-IN" sz="1800" dirty="0"/>
              <a:t>Seaborn </a:t>
            </a:r>
          </a:p>
          <a:p>
            <a:pPr lvl="5">
              <a:buFont typeface="Wingdings" panose="05000000000000000000" pitchFamily="2" charset="2"/>
              <a:buChar char="§"/>
            </a:pPr>
            <a:r>
              <a:rPr lang="en-IN" sz="1800" dirty="0"/>
              <a:t>SciPy </a:t>
            </a:r>
          </a:p>
          <a:p>
            <a:pPr lvl="5">
              <a:buFont typeface="Wingdings" panose="05000000000000000000" pitchFamily="2" charset="2"/>
              <a:buChar char="§"/>
            </a:pPr>
            <a:r>
              <a:rPr lang="en-IN" sz="1800" dirty="0"/>
              <a:t>Statistical Analysis </a:t>
            </a:r>
          </a:p>
          <a:p>
            <a:pPr lvl="5">
              <a:buFont typeface="Wingdings" panose="05000000000000000000" pitchFamily="2" charset="2"/>
              <a:buChar char="§"/>
            </a:pPr>
            <a:r>
              <a:rPr lang="en-IN" sz="1800" dirty="0"/>
              <a:t>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43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Import Libraries                                       Load the Dataset</a:t>
            </a:r>
          </a:p>
        </p:txBody>
      </p:sp>
      <p:pic>
        <p:nvPicPr>
          <p:cNvPr id="3" name="Picture 2">
            <a:extLst>
              <a:ext uri="{FF2B5EF4-FFF2-40B4-BE49-F238E27FC236}">
                <a16:creationId xmlns:a16="http://schemas.microsoft.com/office/drawing/2014/main" id="{D3E7BC1F-D81D-6D84-628E-8F109FDF9E6D}"/>
              </a:ext>
            </a:extLst>
          </p:cNvPr>
          <p:cNvPicPr>
            <a:picLocks noChangeAspect="1"/>
          </p:cNvPicPr>
          <p:nvPr/>
        </p:nvPicPr>
        <p:blipFill>
          <a:blip r:embed="rId3"/>
          <a:stretch>
            <a:fillRect/>
          </a:stretch>
        </p:blipFill>
        <p:spPr>
          <a:xfrm>
            <a:off x="1273989" y="2482939"/>
            <a:ext cx="4244708" cy="2658889"/>
          </a:xfrm>
          <a:prstGeom prst="rect">
            <a:avLst/>
          </a:prstGeom>
        </p:spPr>
      </p:pic>
      <p:pic>
        <p:nvPicPr>
          <p:cNvPr id="11" name="Picture 10">
            <a:extLst>
              <a:ext uri="{FF2B5EF4-FFF2-40B4-BE49-F238E27FC236}">
                <a16:creationId xmlns:a16="http://schemas.microsoft.com/office/drawing/2014/main" id="{4F9ED93E-8069-27DD-4EFE-F99D6F0C3992}"/>
              </a:ext>
            </a:extLst>
          </p:cNvPr>
          <p:cNvPicPr>
            <a:picLocks noChangeAspect="1"/>
          </p:cNvPicPr>
          <p:nvPr/>
        </p:nvPicPr>
        <p:blipFill>
          <a:blip r:embed="rId4"/>
          <a:stretch>
            <a:fillRect/>
          </a:stretch>
        </p:blipFill>
        <p:spPr>
          <a:xfrm>
            <a:off x="5980922" y="2482939"/>
            <a:ext cx="4002833" cy="190145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FCF78-5B87-ACE7-0950-6E45BDD307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541B7E-2A74-D552-04A9-9B7DBABEFC3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7186FC2-B05E-43CD-4CBD-7142A925F21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0D75BD-D15F-0BFB-5198-95E9E1CE0B6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1C78A4C-53C1-0435-0A1D-A1D3869FE36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20C146A-B3B3-1253-603E-01B65B4EB1F8}"/>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View the Data                                           Understand the Variables</a:t>
            </a:r>
          </a:p>
        </p:txBody>
      </p:sp>
      <p:pic>
        <p:nvPicPr>
          <p:cNvPr id="6" name="Picture 5">
            <a:extLst>
              <a:ext uri="{FF2B5EF4-FFF2-40B4-BE49-F238E27FC236}">
                <a16:creationId xmlns:a16="http://schemas.microsoft.com/office/drawing/2014/main" id="{55B88B97-56E5-35EC-39B0-090CB37B7432}"/>
              </a:ext>
            </a:extLst>
          </p:cNvPr>
          <p:cNvPicPr>
            <a:picLocks noChangeAspect="1"/>
          </p:cNvPicPr>
          <p:nvPr/>
        </p:nvPicPr>
        <p:blipFill>
          <a:blip r:embed="rId3"/>
          <a:stretch>
            <a:fillRect/>
          </a:stretch>
        </p:blipFill>
        <p:spPr>
          <a:xfrm>
            <a:off x="1484021" y="2247481"/>
            <a:ext cx="1335061" cy="449065"/>
          </a:xfrm>
          <a:prstGeom prst="rect">
            <a:avLst/>
          </a:prstGeom>
        </p:spPr>
      </p:pic>
      <p:pic>
        <p:nvPicPr>
          <p:cNvPr id="12" name="Picture 11">
            <a:extLst>
              <a:ext uri="{FF2B5EF4-FFF2-40B4-BE49-F238E27FC236}">
                <a16:creationId xmlns:a16="http://schemas.microsoft.com/office/drawing/2014/main" id="{9DC05C9C-6A83-A594-CE57-B877FFBB1F8C}"/>
              </a:ext>
            </a:extLst>
          </p:cNvPr>
          <p:cNvPicPr>
            <a:picLocks noChangeAspect="1"/>
          </p:cNvPicPr>
          <p:nvPr/>
        </p:nvPicPr>
        <p:blipFill>
          <a:blip r:embed="rId4"/>
          <a:stretch>
            <a:fillRect/>
          </a:stretch>
        </p:blipFill>
        <p:spPr>
          <a:xfrm>
            <a:off x="1484021" y="3242969"/>
            <a:ext cx="2819644" cy="1273047"/>
          </a:xfrm>
          <a:prstGeom prst="rect">
            <a:avLst/>
          </a:prstGeom>
        </p:spPr>
      </p:pic>
      <p:pic>
        <p:nvPicPr>
          <p:cNvPr id="14" name="Picture 13">
            <a:extLst>
              <a:ext uri="{FF2B5EF4-FFF2-40B4-BE49-F238E27FC236}">
                <a16:creationId xmlns:a16="http://schemas.microsoft.com/office/drawing/2014/main" id="{44DA4386-7E8E-6677-3C06-382872D57BFD}"/>
              </a:ext>
            </a:extLst>
          </p:cNvPr>
          <p:cNvPicPr>
            <a:picLocks noChangeAspect="1"/>
          </p:cNvPicPr>
          <p:nvPr/>
        </p:nvPicPr>
        <p:blipFill>
          <a:blip r:embed="rId5"/>
          <a:srcRect l="2390" t="1314"/>
          <a:stretch>
            <a:fillRect/>
          </a:stretch>
        </p:blipFill>
        <p:spPr>
          <a:xfrm>
            <a:off x="5941917" y="2365601"/>
            <a:ext cx="3892840" cy="2126798"/>
          </a:xfrm>
          <a:prstGeom prst="rect">
            <a:avLst/>
          </a:prstGeom>
        </p:spPr>
      </p:pic>
      <p:sp>
        <p:nvSpPr>
          <p:cNvPr id="15" name="TextBox 14">
            <a:extLst>
              <a:ext uri="{FF2B5EF4-FFF2-40B4-BE49-F238E27FC236}">
                <a16:creationId xmlns:a16="http://schemas.microsoft.com/office/drawing/2014/main" id="{DBB70C03-D513-9133-9B35-CD3F4099E7CE}"/>
              </a:ext>
            </a:extLst>
          </p:cNvPr>
          <p:cNvSpPr txBox="1"/>
          <p:nvPr/>
        </p:nvSpPr>
        <p:spPr>
          <a:xfrm>
            <a:off x="2640544" y="5099811"/>
            <a:ext cx="5247793" cy="1169551"/>
          </a:xfrm>
          <a:prstGeom prst="rect">
            <a:avLst/>
          </a:prstGeom>
          <a:noFill/>
        </p:spPr>
        <p:txBody>
          <a:bodyPr wrap="square" rtlCol="0">
            <a:spAutoFit/>
          </a:bodyPr>
          <a:lstStyle/>
          <a:p>
            <a:r>
              <a:rPr lang="en-US" sz="1400" dirty="0"/>
              <a:t>The dataset contains both numerical and categorical variables.</a:t>
            </a:r>
          </a:p>
          <a:p>
            <a:r>
              <a:rPr lang="en-US" sz="1400" dirty="0"/>
              <a:t>The main outcome variable is:</a:t>
            </a:r>
          </a:p>
          <a:p>
            <a:pPr lvl="3"/>
            <a:r>
              <a:rPr lang="en-US" sz="1400" dirty="0"/>
              <a:t>**visits → number of reported doctor visits**</a:t>
            </a:r>
          </a:p>
          <a:p>
            <a:r>
              <a:rPr lang="en-US" sz="1400" dirty="0"/>
              <a:t>Other variables describe demographic characteristics,</a:t>
            </a:r>
          </a:p>
          <a:p>
            <a:r>
              <a:rPr lang="en-US" sz="1400" dirty="0"/>
              <a:t>health conditions, healthcare access, and chronic conditions.</a:t>
            </a:r>
            <a:endParaRPr lang="en-IN" sz="1400" dirty="0"/>
          </a:p>
        </p:txBody>
      </p:sp>
    </p:spTree>
    <p:extLst>
      <p:ext uri="{BB962C8B-B14F-4D97-AF65-F5344CB8AC3E}">
        <p14:creationId xmlns:p14="http://schemas.microsoft.com/office/powerpoint/2010/main" val="328271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0F888-E9D4-4BBA-ACA2-FB9C11A91C9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E831196-A1AE-23A2-0953-67C81A541F4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2981880-4F07-F15F-6D83-6E7865FF2CC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2F15EA2-99F1-4F45-4191-E453E0D5FC8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DDF80C5-4EE9-4F6E-7E68-D33FE41948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1F23E8B-58C2-6C41-2EFA-5C2E601F7B9E}"/>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Data Quality Check</a:t>
            </a:r>
          </a:p>
        </p:txBody>
      </p:sp>
      <p:pic>
        <p:nvPicPr>
          <p:cNvPr id="3" name="Picture 2">
            <a:extLst>
              <a:ext uri="{FF2B5EF4-FFF2-40B4-BE49-F238E27FC236}">
                <a16:creationId xmlns:a16="http://schemas.microsoft.com/office/drawing/2014/main" id="{C067F9F2-4B9E-9EC8-5DBF-CE6D8E2D0068}"/>
              </a:ext>
            </a:extLst>
          </p:cNvPr>
          <p:cNvPicPr>
            <a:picLocks noChangeAspect="1"/>
          </p:cNvPicPr>
          <p:nvPr/>
        </p:nvPicPr>
        <p:blipFill>
          <a:blip r:embed="rId3"/>
          <a:stretch>
            <a:fillRect/>
          </a:stretch>
        </p:blipFill>
        <p:spPr>
          <a:xfrm>
            <a:off x="1382953" y="2176949"/>
            <a:ext cx="3566469" cy="1704586"/>
          </a:xfrm>
          <a:prstGeom prst="rect">
            <a:avLst/>
          </a:prstGeom>
        </p:spPr>
      </p:pic>
      <p:pic>
        <p:nvPicPr>
          <p:cNvPr id="11" name="Picture 10">
            <a:extLst>
              <a:ext uri="{FF2B5EF4-FFF2-40B4-BE49-F238E27FC236}">
                <a16:creationId xmlns:a16="http://schemas.microsoft.com/office/drawing/2014/main" id="{EC59C4F1-9852-3FA8-93F3-49777BEA5BD2}"/>
              </a:ext>
            </a:extLst>
          </p:cNvPr>
          <p:cNvPicPr>
            <a:picLocks noChangeAspect="1"/>
          </p:cNvPicPr>
          <p:nvPr/>
        </p:nvPicPr>
        <p:blipFill>
          <a:blip r:embed="rId4"/>
          <a:stretch>
            <a:fillRect/>
          </a:stretch>
        </p:blipFill>
        <p:spPr>
          <a:xfrm>
            <a:off x="1382953" y="4531834"/>
            <a:ext cx="2405276" cy="907921"/>
          </a:xfrm>
          <a:prstGeom prst="rect">
            <a:avLst/>
          </a:prstGeom>
        </p:spPr>
      </p:pic>
      <p:sp>
        <p:nvSpPr>
          <p:cNvPr id="13" name="TextBox 12">
            <a:extLst>
              <a:ext uri="{FF2B5EF4-FFF2-40B4-BE49-F238E27FC236}">
                <a16:creationId xmlns:a16="http://schemas.microsoft.com/office/drawing/2014/main" id="{7563427F-B434-D68D-6D8B-FBD4E107318E}"/>
              </a:ext>
            </a:extLst>
          </p:cNvPr>
          <p:cNvSpPr txBox="1"/>
          <p:nvPr/>
        </p:nvSpPr>
        <p:spPr>
          <a:xfrm>
            <a:off x="6369699" y="2302210"/>
            <a:ext cx="4068147" cy="2462213"/>
          </a:xfrm>
          <a:prstGeom prst="rect">
            <a:avLst/>
          </a:prstGeom>
          <a:noFill/>
        </p:spPr>
        <p:txBody>
          <a:bodyPr wrap="square" rtlCol="0">
            <a:spAutoFit/>
          </a:bodyPr>
          <a:lstStyle/>
          <a:p>
            <a:r>
              <a:rPr lang="en-IN" sz="1400" dirty="0"/>
              <a:t>Can We Trust the Data? </a:t>
            </a:r>
          </a:p>
          <a:p>
            <a:r>
              <a:rPr lang="en-IN" sz="1400" dirty="0"/>
              <a:t>Before </a:t>
            </a:r>
            <a:r>
              <a:rPr lang="en-IN" sz="1400" dirty="0" err="1"/>
              <a:t>analyzing</a:t>
            </a:r>
            <a:r>
              <a:rPr lang="en-IN" sz="1400" dirty="0"/>
              <a:t> the story, we perform basic data-quality checks. </a:t>
            </a:r>
          </a:p>
          <a:p>
            <a:r>
              <a:rPr lang="en-IN" sz="1400" dirty="0"/>
              <a:t>We check: </a:t>
            </a:r>
          </a:p>
          <a:p>
            <a:pPr marL="742950" lvl="1" indent="-285750">
              <a:buFont typeface="Wingdings" panose="05000000000000000000" pitchFamily="2" charset="2"/>
              <a:buChar char="§"/>
            </a:pPr>
            <a:r>
              <a:rPr lang="en-IN" sz="1400" dirty="0"/>
              <a:t>Missing values </a:t>
            </a:r>
          </a:p>
          <a:p>
            <a:pPr marL="742950" lvl="1" indent="-285750">
              <a:buFont typeface="Wingdings" panose="05000000000000000000" pitchFamily="2" charset="2"/>
              <a:buChar char="§"/>
            </a:pPr>
            <a:r>
              <a:rPr lang="en-IN" sz="1400" dirty="0"/>
              <a:t>Duplicate records </a:t>
            </a:r>
          </a:p>
          <a:p>
            <a:pPr marL="742950" lvl="1" indent="-285750">
              <a:buFont typeface="Wingdings" panose="05000000000000000000" pitchFamily="2" charset="2"/>
              <a:buChar char="§"/>
            </a:pPr>
            <a:r>
              <a:rPr lang="en-IN" sz="1400" dirty="0"/>
              <a:t>Data types </a:t>
            </a:r>
          </a:p>
          <a:p>
            <a:pPr marL="742950" lvl="1" indent="-285750">
              <a:buFont typeface="Wingdings" panose="05000000000000000000" pitchFamily="2" charset="2"/>
              <a:buChar char="§"/>
            </a:pPr>
            <a:r>
              <a:rPr lang="en-IN" sz="1400" dirty="0"/>
              <a:t>Unnecessary columns </a:t>
            </a:r>
          </a:p>
          <a:p>
            <a:r>
              <a:rPr lang="en-IN" sz="1400" dirty="0"/>
              <a:t>The column `Unnamed: 0` behaves like an index/record identifier, so it will not be used as an analytical variable.</a:t>
            </a:r>
          </a:p>
        </p:txBody>
      </p:sp>
    </p:spTree>
    <p:extLst>
      <p:ext uri="{BB962C8B-B14F-4D97-AF65-F5344CB8AC3E}">
        <p14:creationId xmlns:p14="http://schemas.microsoft.com/office/powerpoint/2010/main" val="183255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E4E5F-242B-3693-6AD2-66DAB72AD06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AE8B78-8FCD-B4BA-B08E-28F6F0E33E7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C087C13-D5A6-EF21-E8B2-B701DEBEB07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353D8FC-5111-F8A5-3A98-AEE55A3B2C2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AD6A6AF-3CC7-D8C6-755B-2BC23972177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5DB5F2D-367C-B696-DCD8-91619AEF9378}"/>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Remove the Index Column                              Statistical Summary</a:t>
            </a:r>
          </a:p>
        </p:txBody>
      </p:sp>
      <p:pic>
        <p:nvPicPr>
          <p:cNvPr id="3" name="Picture 2">
            <a:extLst>
              <a:ext uri="{FF2B5EF4-FFF2-40B4-BE49-F238E27FC236}">
                <a16:creationId xmlns:a16="http://schemas.microsoft.com/office/drawing/2014/main" id="{432865CF-9E14-5FA0-C483-42105A3C47A2}"/>
              </a:ext>
            </a:extLst>
          </p:cNvPr>
          <p:cNvPicPr>
            <a:picLocks noChangeAspect="1"/>
          </p:cNvPicPr>
          <p:nvPr/>
        </p:nvPicPr>
        <p:blipFill>
          <a:blip r:embed="rId3"/>
          <a:stretch>
            <a:fillRect/>
          </a:stretch>
        </p:blipFill>
        <p:spPr>
          <a:xfrm>
            <a:off x="1174799" y="2325067"/>
            <a:ext cx="3665538" cy="1584460"/>
          </a:xfrm>
          <a:prstGeom prst="rect">
            <a:avLst/>
          </a:prstGeom>
        </p:spPr>
      </p:pic>
      <p:pic>
        <p:nvPicPr>
          <p:cNvPr id="9" name="Picture 8">
            <a:extLst>
              <a:ext uri="{FF2B5EF4-FFF2-40B4-BE49-F238E27FC236}">
                <a16:creationId xmlns:a16="http://schemas.microsoft.com/office/drawing/2014/main" id="{5A58B35F-067F-82F0-6966-F7449E32B1A2}"/>
              </a:ext>
            </a:extLst>
          </p:cNvPr>
          <p:cNvPicPr>
            <a:picLocks noChangeAspect="1"/>
          </p:cNvPicPr>
          <p:nvPr/>
        </p:nvPicPr>
        <p:blipFill>
          <a:blip r:embed="rId4"/>
          <a:stretch>
            <a:fillRect/>
          </a:stretch>
        </p:blipFill>
        <p:spPr>
          <a:xfrm>
            <a:off x="7129972" y="2325067"/>
            <a:ext cx="1585097" cy="341053"/>
          </a:xfrm>
          <a:prstGeom prst="rect">
            <a:avLst/>
          </a:prstGeom>
        </p:spPr>
      </p:pic>
      <p:sp>
        <p:nvSpPr>
          <p:cNvPr id="11" name="TextBox 10">
            <a:extLst>
              <a:ext uri="{FF2B5EF4-FFF2-40B4-BE49-F238E27FC236}">
                <a16:creationId xmlns:a16="http://schemas.microsoft.com/office/drawing/2014/main" id="{C155F03B-9A0D-02BA-04E6-4C2CB9BCB0A1}"/>
              </a:ext>
            </a:extLst>
          </p:cNvPr>
          <p:cNvSpPr txBox="1"/>
          <p:nvPr/>
        </p:nvSpPr>
        <p:spPr>
          <a:xfrm>
            <a:off x="3657600" y="4841531"/>
            <a:ext cx="3747795" cy="1169551"/>
          </a:xfrm>
          <a:prstGeom prst="rect">
            <a:avLst/>
          </a:prstGeom>
          <a:noFill/>
        </p:spPr>
        <p:txBody>
          <a:bodyPr wrap="square" rtlCol="0">
            <a:spAutoFit/>
          </a:bodyPr>
          <a:lstStyle/>
          <a:p>
            <a:r>
              <a:rPr lang="en-IN" sz="1400" dirty="0"/>
              <a:t>What Does the Data Look Like Statistically? We now examine the numerical variables using descriptive statistics. This gives us a basic understanding of the range, central tendency, and variation in the dataset.</a:t>
            </a:r>
          </a:p>
        </p:txBody>
      </p:sp>
    </p:spTree>
    <p:extLst>
      <p:ext uri="{BB962C8B-B14F-4D97-AF65-F5344CB8AC3E}">
        <p14:creationId xmlns:p14="http://schemas.microsoft.com/office/powerpoint/2010/main" val="3718159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9251B-A378-24BA-FC0E-71F1AE7EDE5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4A775A-1592-8252-FD01-F64F81D3F2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BFB4DF0-E5EB-1FA7-D08C-F2397F34CAB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C713D26-D6DF-D878-C07A-568F217A92E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34EB698-1045-9B6D-5DCC-5B6183C8412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3BF3D9B-A807-E3DB-CC6A-2F7060F53ED8}"/>
              </a:ext>
            </a:extLst>
          </p:cNvPr>
          <p:cNvSpPr>
            <a:spLocks noGrp="1"/>
          </p:cNvSpPr>
          <p:nvPr>
            <p:ph type="body" sz="quarter" idx="12"/>
          </p:nvPr>
        </p:nvSpPr>
        <p:spPr>
          <a:xfrm>
            <a:off x="835156" y="1645306"/>
            <a:ext cx="4548608" cy="477520"/>
          </a:xfrm>
        </p:spPr>
        <p:txBody>
          <a:bodyPr>
            <a:normAutofit/>
          </a:bodyPr>
          <a:lstStyle/>
          <a:p>
            <a:pPr marL="0" indent="0">
              <a:buNone/>
            </a:pPr>
            <a:r>
              <a:rPr lang="en-IN" b="1" dirty="0"/>
              <a:t>Our First Question: Doctor Visits</a:t>
            </a:r>
          </a:p>
        </p:txBody>
      </p:sp>
      <p:sp>
        <p:nvSpPr>
          <p:cNvPr id="2" name="TextBox 1">
            <a:extLst>
              <a:ext uri="{FF2B5EF4-FFF2-40B4-BE49-F238E27FC236}">
                <a16:creationId xmlns:a16="http://schemas.microsoft.com/office/drawing/2014/main" id="{44D26F7F-0AE4-0AB1-8869-83E217A382C3}"/>
              </a:ext>
            </a:extLst>
          </p:cNvPr>
          <p:cNvSpPr txBox="1"/>
          <p:nvPr/>
        </p:nvSpPr>
        <p:spPr>
          <a:xfrm>
            <a:off x="942393" y="2791357"/>
            <a:ext cx="4548608" cy="1169551"/>
          </a:xfrm>
          <a:prstGeom prst="rect">
            <a:avLst/>
          </a:prstGeom>
          <a:noFill/>
        </p:spPr>
        <p:txBody>
          <a:bodyPr wrap="square" rtlCol="0">
            <a:spAutoFit/>
          </a:bodyPr>
          <a:lstStyle/>
          <a:p>
            <a:r>
              <a:rPr lang="en-IN" sz="1400" dirty="0"/>
              <a:t>What Does Doctor-Visit Usage Look Like? </a:t>
            </a:r>
          </a:p>
          <a:p>
            <a:r>
              <a:rPr lang="en-IN" sz="1400" dirty="0"/>
              <a:t>               We begin with the most important variable: </a:t>
            </a:r>
          </a:p>
          <a:p>
            <a:r>
              <a:rPr lang="en-IN" sz="1400" dirty="0"/>
              <a:t> How frequently are doctor visits reported? </a:t>
            </a:r>
          </a:p>
          <a:p>
            <a:r>
              <a:rPr lang="en-IN" sz="1400" dirty="0"/>
              <a:t>              Understanding the distribution of visits gives us the starting point for the entire analysis.</a:t>
            </a:r>
          </a:p>
        </p:txBody>
      </p:sp>
      <p:pic>
        <p:nvPicPr>
          <p:cNvPr id="11" name="Picture 10">
            <a:extLst>
              <a:ext uri="{FF2B5EF4-FFF2-40B4-BE49-F238E27FC236}">
                <a16:creationId xmlns:a16="http://schemas.microsoft.com/office/drawing/2014/main" id="{D7DECCF3-9589-8A8E-3271-18EEF4210701}"/>
              </a:ext>
            </a:extLst>
          </p:cNvPr>
          <p:cNvPicPr>
            <a:picLocks noChangeAspect="1"/>
          </p:cNvPicPr>
          <p:nvPr/>
        </p:nvPicPr>
        <p:blipFill>
          <a:blip r:embed="rId3"/>
          <a:stretch>
            <a:fillRect/>
          </a:stretch>
        </p:blipFill>
        <p:spPr>
          <a:xfrm>
            <a:off x="6262332" y="2298555"/>
            <a:ext cx="3839482" cy="3284074"/>
          </a:xfrm>
          <a:prstGeom prst="rect">
            <a:avLst/>
          </a:prstGeom>
        </p:spPr>
      </p:pic>
      <p:sp>
        <p:nvSpPr>
          <p:cNvPr id="12" name="TextBox 11">
            <a:extLst>
              <a:ext uri="{FF2B5EF4-FFF2-40B4-BE49-F238E27FC236}">
                <a16:creationId xmlns:a16="http://schemas.microsoft.com/office/drawing/2014/main" id="{E7C3563D-B1CA-9259-02EB-332AA31A3721}"/>
              </a:ext>
            </a:extLst>
          </p:cNvPr>
          <p:cNvSpPr txBox="1"/>
          <p:nvPr/>
        </p:nvSpPr>
        <p:spPr>
          <a:xfrm>
            <a:off x="827901" y="4520196"/>
            <a:ext cx="5101769" cy="1384995"/>
          </a:xfrm>
          <a:prstGeom prst="rect">
            <a:avLst/>
          </a:prstGeom>
          <a:noFill/>
        </p:spPr>
        <p:txBody>
          <a:bodyPr wrap="square" rtlCol="0">
            <a:spAutoFit/>
          </a:bodyPr>
          <a:lstStyle/>
          <a:p>
            <a:r>
              <a:rPr lang="en-IN" sz="1400" dirty="0"/>
              <a:t>Observation:</a:t>
            </a:r>
          </a:p>
          <a:p>
            <a:r>
              <a:rPr lang="en-IN" sz="1400" dirty="0"/>
              <a:t>                     Doctor visits are highly concentrated at the lower end of the distribution. This tells us that the dataset contains many records with zero or relatively few doctor visits. Now we need to understand what characteristics are associated with higher visit counts.</a:t>
            </a:r>
          </a:p>
        </p:txBody>
      </p:sp>
      <p:sp>
        <p:nvSpPr>
          <p:cNvPr id="13" name="TextBox 12">
            <a:extLst>
              <a:ext uri="{FF2B5EF4-FFF2-40B4-BE49-F238E27FC236}">
                <a16:creationId xmlns:a16="http://schemas.microsoft.com/office/drawing/2014/main" id="{651ECBB8-AF15-29B7-23AE-A9EF70C30233}"/>
              </a:ext>
            </a:extLst>
          </p:cNvPr>
          <p:cNvSpPr txBox="1"/>
          <p:nvPr/>
        </p:nvSpPr>
        <p:spPr>
          <a:xfrm>
            <a:off x="704885" y="6122064"/>
            <a:ext cx="7281618" cy="584775"/>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a:p>
            <a:endParaRPr lang="en-IN" dirty="0"/>
          </a:p>
        </p:txBody>
      </p:sp>
    </p:spTree>
    <p:extLst>
      <p:ext uri="{BB962C8B-B14F-4D97-AF65-F5344CB8AC3E}">
        <p14:creationId xmlns:p14="http://schemas.microsoft.com/office/powerpoint/2010/main" val="303798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F4343-7D7F-759E-61EB-B1A78A9110E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A97B05-1A82-26AE-8898-8F9DABFD684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AD3958D-B304-1324-FAB6-5B9B12FD4A2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3A8E73A-48DE-FF32-93BA-572D1EDE11E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122B307-8288-CD63-6DF8-710B7A1064C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8C500A7-6811-A641-D6A4-9314F2AE3CE6}"/>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Question 2: Age</a:t>
            </a:r>
          </a:p>
        </p:txBody>
      </p:sp>
      <p:sp>
        <p:nvSpPr>
          <p:cNvPr id="2" name="TextBox 1">
            <a:extLst>
              <a:ext uri="{FF2B5EF4-FFF2-40B4-BE49-F238E27FC236}">
                <a16:creationId xmlns:a16="http://schemas.microsoft.com/office/drawing/2014/main" id="{A46FBFF3-A254-EDEE-F9D2-62C792B4E248}"/>
              </a:ext>
            </a:extLst>
          </p:cNvPr>
          <p:cNvSpPr txBox="1"/>
          <p:nvPr/>
        </p:nvSpPr>
        <p:spPr>
          <a:xfrm>
            <a:off x="885344" y="2248678"/>
            <a:ext cx="5018633" cy="1384995"/>
          </a:xfrm>
          <a:prstGeom prst="rect">
            <a:avLst/>
          </a:prstGeom>
          <a:noFill/>
        </p:spPr>
        <p:txBody>
          <a:bodyPr wrap="square" rtlCol="0">
            <a:spAutoFit/>
          </a:bodyPr>
          <a:lstStyle/>
          <a:p>
            <a:r>
              <a:rPr lang="en-IN" sz="1400" dirty="0"/>
              <a:t>Does Age Relate to Doctor Visits? </a:t>
            </a:r>
          </a:p>
          <a:p>
            <a:r>
              <a:rPr lang="en-IN" sz="1400" dirty="0"/>
              <a:t>               The next question is about demographics.</a:t>
            </a:r>
          </a:p>
          <a:p>
            <a:r>
              <a:rPr lang="en-IN" sz="1400" dirty="0"/>
              <a:t>Do different recorded age levels show different doctor-visit patterns? </a:t>
            </a:r>
          </a:p>
          <a:p>
            <a:r>
              <a:rPr lang="en-IN" sz="1400" dirty="0"/>
              <a:t>                    We will </a:t>
            </a:r>
            <a:r>
              <a:rPr lang="en-IN" sz="1400" dirty="0" err="1"/>
              <a:t>analyze</a:t>
            </a:r>
            <a:r>
              <a:rPr lang="en-IN" sz="1400" dirty="0"/>
              <a:t> the age values exactly as they are represented in the dataset.</a:t>
            </a:r>
          </a:p>
        </p:txBody>
      </p:sp>
      <p:pic>
        <p:nvPicPr>
          <p:cNvPr id="6" name="Picture 5">
            <a:extLst>
              <a:ext uri="{FF2B5EF4-FFF2-40B4-BE49-F238E27FC236}">
                <a16:creationId xmlns:a16="http://schemas.microsoft.com/office/drawing/2014/main" id="{10C0D4AC-AAE1-E3DD-D900-B70E85DCAB9F}"/>
              </a:ext>
            </a:extLst>
          </p:cNvPr>
          <p:cNvPicPr>
            <a:picLocks noChangeAspect="1"/>
          </p:cNvPicPr>
          <p:nvPr/>
        </p:nvPicPr>
        <p:blipFill>
          <a:blip r:embed="rId3"/>
          <a:stretch>
            <a:fillRect/>
          </a:stretch>
        </p:blipFill>
        <p:spPr>
          <a:xfrm>
            <a:off x="6288025" y="1670453"/>
            <a:ext cx="5018633" cy="3635055"/>
          </a:xfrm>
          <a:prstGeom prst="rect">
            <a:avLst/>
          </a:prstGeom>
        </p:spPr>
      </p:pic>
      <p:sp>
        <p:nvSpPr>
          <p:cNvPr id="9" name="TextBox 8">
            <a:extLst>
              <a:ext uri="{FF2B5EF4-FFF2-40B4-BE49-F238E27FC236}">
                <a16:creationId xmlns:a16="http://schemas.microsoft.com/office/drawing/2014/main" id="{37A4B1D3-E8E4-C05F-9BF2-74E34FFF716E}"/>
              </a:ext>
            </a:extLst>
          </p:cNvPr>
          <p:cNvSpPr txBox="1"/>
          <p:nvPr/>
        </p:nvSpPr>
        <p:spPr>
          <a:xfrm>
            <a:off x="885344" y="4243247"/>
            <a:ext cx="4862313" cy="1600438"/>
          </a:xfrm>
          <a:prstGeom prst="rect">
            <a:avLst/>
          </a:prstGeom>
          <a:noFill/>
        </p:spPr>
        <p:txBody>
          <a:bodyPr wrap="square" rtlCol="0">
            <a:spAutoFit/>
          </a:bodyPr>
          <a:lstStyle/>
          <a:p>
            <a:r>
              <a:rPr lang="en-IN" sz="1400" dirty="0"/>
              <a:t>Observation:</a:t>
            </a:r>
          </a:p>
          <a:p>
            <a:r>
              <a:rPr lang="en-IN" sz="1400" dirty="0"/>
              <a:t>                    The Spearman correlation between age and doctor visits is approximately **0.148**. This indicates a positive statistical association between the recorded age variable and doctor visits in this dataset. The relationship should be interpreted as an association, not as evidence that age directly causes doctor visits.</a:t>
            </a:r>
          </a:p>
        </p:txBody>
      </p:sp>
      <p:sp>
        <p:nvSpPr>
          <p:cNvPr id="11" name="TextBox 10">
            <a:extLst>
              <a:ext uri="{FF2B5EF4-FFF2-40B4-BE49-F238E27FC236}">
                <a16:creationId xmlns:a16="http://schemas.microsoft.com/office/drawing/2014/main" id="{0B2F3EBC-D719-29D1-0099-7A38BD65EF1D}"/>
              </a:ext>
            </a:extLst>
          </p:cNvPr>
          <p:cNvSpPr txBox="1"/>
          <p:nvPr/>
        </p:nvSpPr>
        <p:spPr>
          <a:xfrm>
            <a:off x="885344" y="6022372"/>
            <a:ext cx="5571440" cy="307777"/>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228198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451F7-9100-F585-7A48-30A01C543B9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D99D62-589F-9180-1919-0990618BCFE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CA14046-F2EF-7D5E-3D44-C3005AC6DE7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64F7632-05A9-B1AC-3824-5FD49D4CAC1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D64DA04-F088-3C0F-6A91-5A76AB3EC7F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911A2A-6956-029B-7D30-1EC410543A1D}"/>
              </a:ext>
            </a:extLst>
          </p:cNvPr>
          <p:cNvSpPr>
            <a:spLocks noGrp="1"/>
          </p:cNvSpPr>
          <p:nvPr>
            <p:ph type="body" sz="quarter" idx="12"/>
          </p:nvPr>
        </p:nvSpPr>
        <p:spPr>
          <a:xfrm>
            <a:off x="979714" y="1640807"/>
            <a:ext cx="10193629" cy="477520"/>
          </a:xfrm>
        </p:spPr>
        <p:txBody>
          <a:bodyPr>
            <a:normAutofit/>
          </a:bodyPr>
          <a:lstStyle/>
          <a:p>
            <a:pPr marL="0" indent="0">
              <a:buNone/>
            </a:pPr>
            <a:r>
              <a:rPr lang="en-IN" b="1" dirty="0"/>
              <a:t>Question 3: Illness</a:t>
            </a:r>
          </a:p>
        </p:txBody>
      </p:sp>
      <p:sp>
        <p:nvSpPr>
          <p:cNvPr id="2" name="TextBox 1">
            <a:extLst>
              <a:ext uri="{FF2B5EF4-FFF2-40B4-BE49-F238E27FC236}">
                <a16:creationId xmlns:a16="http://schemas.microsoft.com/office/drawing/2014/main" id="{E2EC164E-5DC5-F491-E6F8-5AA14248A475}"/>
              </a:ext>
            </a:extLst>
          </p:cNvPr>
          <p:cNvSpPr txBox="1"/>
          <p:nvPr/>
        </p:nvSpPr>
        <p:spPr>
          <a:xfrm>
            <a:off x="1352938" y="2397434"/>
            <a:ext cx="4049486" cy="1384995"/>
          </a:xfrm>
          <a:prstGeom prst="rect">
            <a:avLst/>
          </a:prstGeom>
          <a:noFill/>
        </p:spPr>
        <p:txBody>
          <a:bodyPr wrap="square" rtlCol="0">
            <a:spAutoFit/>
          </a:bodyPr>
          <a:lstStyle/>
          <a:p>
            <a:r>
              <a:rPr lang="en-IN" sz="1400" dirty="0"/>
              <a:t>Does Illness Relate to Doctor Visits? </a:t>
            </a:r>
          </a:p>
          <a:p>
            <a:r>
              <a:rPr lang="en-IN" sz="1400" dirty="0"/>
              <a:t>                We now move from demographics to health. The key question is:</a:t>
            </a:r>
          </a:p>
          <a:p>
            <a:r>
              <a:rPr lang="en-IN" sz="1400" dirty="0"/>
              <a:t>                As the reported illness level changes, how does the average number of doctor visits change?</a:t>
            </a:r>
          </a:p>
        </p:txBody>
      </p:sp>
      <p:pic>
        <p:nvPicPr>
          <p:cNvPr id="6" name="Picture 5">
            <a:extLst>
              <a:ext uri="{FF2B5EF4-FFF2-40B4-BE49-F238E27FC236}">
                <a16:creationId xmlns:a16="http://schemas.microsoft.com/office/drawing/2014/main" id="{EE576E5F-7792-ED01-B0D2-08E8CE250AB3}"/>
              </a:ext>
            </a:extLst>
          </p:cNvPr>
          <p:cNvPicPr>
            <a:picLocks noChangeAspect="1"/>
          </p:cNvPicPr>
          <p:nvPr/>
        </p:nvPicPr>
        <p:blipFill>
          <a:blip r:embed="rId3"/>
          <a:stretch>
            <a:fillRect/>
          </a:stretch>
        </p:blipFill>
        <p:spPr>
          <a:xfrm>
            <a:off x="6096000" y="2065535"/>
            <a:ext cx="4546309" cy="3248670"/>
          </a:xfrm>
          <a:prstGeom prst="rect">
            <a:avLst/>
          </a:prstGeom>
        </p:spPr>
      </p:pic>
      <p:sp>
        <p:nvSpPr>
          <p:cNvPr id="9" name="TextBox 8">
            <a:extLst>
              <a:ext uri="{FF2B5EF4-FFF2-40B4-BE49-F238E27FC236}">
                <a16:creationId xmlns:a16="http://schemas.microsoft.com/office/drawing/2014/main" id="{A799A384-107B-202E-3783-C1EF4A9E41C7}"/>
              </a:ext>
            </a:extLst>
          </p:cNvPr>
          <p:cNvSpPr txBox="1"/>
          <p:nvPr/>
        </p:nvSpPr>
        <p:spPr>
          <a:xfrm>
            <a:off x="1352938" y="4116333"/>
            <a:ext cx="4049486" cy="1600438"/>
          </a:xfrm>
          <a:prstGeom prst="rect">
            <a:avLst/>
          </a:prstGeom>
          <a:noFill/>
        </p:spPr>
        <p:txBody>
          <a:bodyPr wrap="square" rtlCol="0">
            <a:spAutoFit/>
          </a:bodyPr>
          <a:lstStyle/>
          <a:p>
            <a:r>
              <a:rPr lang="en-IN" sz="1400" dirty="0"/>
              <a:t>Observation:</a:t>
            </a:r>
          </a:p>
          <a:p>
            <a:r>
              <a:rPr lang="en-IN" sz="1400" dirty="0"/>
              <a:t>              The Spearman correlation between illness and doctor visits is approximately **0.263**. The relationship is positive, meaning higher reported illness levels tend to be associated with higher doctor-visit counts in this dataset.</a:t>
            </a:r>
          </a:p>
        </p:txBody>
      </p:sp>
      <p:sp>
        <p:nvSpPr>
          <p:cNvPr id="11" name="TextBox 10">
            <a:extLst>
              <a:ext uri="{FF2B5EF4-FFF2-40B4-BE49-F238E27FC236}">
                <a16:creationId xmlns:a16="http://schemas.microsoft.com/office/drawing/2014/main" id="{F165CDCD-B61B-A768-A895-8115BB85C7DB}"/>
              </a:ext>
            </a:extLst>
          </p:cNvPr>
          <p:cNvSpPr txBox="1"/>
          <p:nvPr/>
        </p:nvSpPr>
        <p:spPr>
          <a:xfrm>
            <a:off x="979714" y="6145482"/>
            <a:ext cx="6532259" cy="307777"/>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4027513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93C3-D387-2D17-B8CA-3739DC66B14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894359-4D1C-6DF8-9F02-71A6DCA4008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C0F9225-90AC-AB79-9593-DD90EBF5571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916FE45-A5F7-6ACC-AB79-E2E91930961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1174143-630B-CFED-761F-799DC64E138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ACB64B1-68ED-9578-1889-2DD151E433BD}"/>
              </a:ext>
            </a:extLst>
          </p:cNvPr>
          <p:cNvSpPr>
            <a:spLocks noGrp="1"/>
          </p:cNvSpPr>
          <p:nvPr>
            <p:ph type="body" sz="quarter" idx="12"/>
          </p:nvPr>
        </p:nvSpPr>
        <p:spPr>
          <a:xfrm>
            <a:off x="807162" y="1608410"/>
            <a:ext cx="10193629" cy="477520"/>
          </a:xfrm>
        </p:spPr>
        <p:txBody>
          <a:bodyPr>
            <a:normAutofit/>
          </a:bodyPr>
          <a:lstStyle/>
          <a:p>
            <a:pPr marL="0" indent="0">
              <a:buNone/>
            </a:pPr>
            <a:r>
              <a:rPr lang="en-IN" b="1" dirty="0"/>
              <a:t>Question 4: Reduced Activity</a:t>
            </a:r>
          </a:p>
        </p:txBody>
      </p:sp>
      <p:sp>
        <p:nvSpPr>
          <p:cNvPr id="2" name="TextBox 1">
            <a:extLst>
              <a:ext uri="{FF2B5EF4-FFF2-40B4-BE49-F238E27FC236}">
                <a16:creationId xmlns:a16="http://schemas.microsoft.com/office/drawing/2014/main" id="{458D3E03-7B6F-049F-3307-FBBCFE88746B}"/>
              </a:ext>
            </a:extLst>
          </p:cNvPr>
          <p:cNvSpPr txBox="1"/>
          <p:nvPr/>
        </p:nvSpPr>
        <p:spPr>
          <a:xfrm>
            <a:off x="1421362" y="2411052"/>
            <a:ext cx="4674638" cy="1169551"/>
          </a:xfrm>
          <a:prstGeom prst="rect">
            <a:avLst/>
          </a:prstGeom>
          <a:noFill/>
        </p:spPr>
        <p:txBody>
          <a:bodyPr wrap="square" rtlCol="0">
            <a:spAutoFit/>
          </a:bodyPr>
          <a:lstStyle/>
          <a:p>
            <a:r>
              <a:rPr lang="en-IN" sz="1400" dirty="0"/>
              <a:t>Does Reduced Activity Relate to Doctor Visits? </a:t>
            </a:r>
          </a:p>
          <a:p>
            <a:r>
              <a:rPr lang="en-IN" sz="1400" dirty="0"/>
              <a:t>                 Health conditions can also affect daily activity. So we ask:</a:t>
            </a:r>
          </a:p>
          <a:p>
            <a:r>
              <a:rPr lang="en-IN" sz="1400" dirty="0"/>
              <a:t>               Is reduced activity associated with doctor visits?</a:t>
            </a:r>
          </a:p>
        </p:txBody>
      </p:sp>
      <p:pic>
        <p:nvPicPr>
          <p:cNvPr id="6" name="Picture 5">
            <a:extLst>
              <a:ext uri="{FF2B5EF4-FFF2-40B4-BE49-F238E27FC236}">
                <a16:creationId xmlns:a16="http://schemas.microsoft.com/office/drawing/2014/main" id="{6F577D74-0816-EDCD-1CE4-726DC3CFB9A7}"/>
              </a:ext>
            </a:extLst>
          </p:cNvPr>
          <p:cNvPicPr>
            <a:picLocks noChangeAspect="1"/>
          </p:cNvPicPr>
          <p:nvPr/>
        </p:nvPicPr>
        <p:blipFill>
          <a:blip r:embed="rId3"/>
          <a:stretch>
            <a:fillRect/>
          </a:stretch>
        </p:blipFill>
        <p:spPr>
          <a:xfrm>
            <a:off x="6360368" y="2067369"/>
            <a:ext cx="4487213" cy="3182221"/>
          </a:xfrm>
          <a:prstGeom prst="rect">
            <a:avLst/>
          </a:prstGeom>
        </p:spPr>
      </p:pic>
      <p:sp>
        <p:nvSpPr>
          <p:cNvPr id="9" name="TextBox 8">
            <a:extLst>
              <a:ext uri="{FF2B5EF4-FFF2-40B4-BE49-F238E27FC236}">
                <a16:creationId xmlns:a16="http://schemas.microsoft.com/office/drawing/2014/main" id="{69486E11-2AC1-C2A2-5642-B6596F0977B0}"/>
              </a:ext>
            </a:extLst>
          </p:cNvPr>
          <p:cNvSpPr txBox="1"/>
          <p:nvPr/>
        </p:nvSpPr>
        <p:spPr>
          <a:xfrm>
            <a:off x="1415144" y="3982191"/>
            <a:ext cx="4945224" cy="1600438"/>
          </a:xfrm>
          <a:prstGeom prst="rect">
            <a:avLst/>
          </a:prstGeom>
          <a:noFill/>
        </p:spPr>
        <p:txBody>
          <a:bodyPr wrap="square" rtlCol="0">
            <a:spAutoFit/>
          </a:bodyPr>
          <a:lstStyle/>
          <a:p>
            <a:r>
              <a:rPr lang="en-IN" sz="1400" dirty="0"/>
              <a:t>Observation:</a:t>
            </a:r>
          </a:p>
          <a:p>
            <a:r>
              <a:rPr lang="en-IN" sz="1400" dirty="0"/>
              <a:t>                    Reduced activity has a Spearman correlation of approximately **0.336** with doctor visits. Among the main numerical variables </a:t>
            </a:r>
            <a:r>
              <a:rPr lang="en-IN" sz="1400" dirty="0" err="1"/>
              <a:t>analyzed</a:t>
            </a:r>
            <a:r>
              <a:rPr lang="en-IN" sz="1400" dirty="0"/>
              <a:t>, this is one of the stronger positive associations with doctor visits. This means that higher reported reduced activity tends to occur alongside higher doctor-visit counts.</a:t>
            </a:r>
          </a:p>
        </p:txBody>
      </p:sp>
      <p:sp>
        <p:nvSpPr>
          <p:cNvPr id="11" name="TextBox 10">
            <a:extLst>
              <a:ext uri="{FF2B5EF4-FFF2-40B4-BE49-F238E27FC236}">
                <a16:creationId xmlns:a16="http://schemas.microsoft.com/office/drawing/2014/main" id="{10F73010-67B9-0373-A7F2-7FC9ADD25AAA}"/>
              </a:ext>
            </a:extLst>
          </p:cNvPr>
          <p:cNvSpPr txBox="1"/>
          <p:nvPr/>
        </p:nvSpPr>
        <p:spPr>
          <a:xfrm>
            <a:off x="1110342" y="6179634"/>
            <a:ext cx="5710335" cy="307777"/>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110254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F4C88-2176-BFA1-3A46-F3E0A8653DB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512E1D5-4DCB-BEBE-83CE-A596B2FEB02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065B452-22CD-23CC-1213-479809E38F2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1CEC6E3-85EF-7719-7735-342C0F1192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6028340-F0D4-E304-B53B-5E55ED60238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2B4AF81-BBF3-DE04-BB0F-D2266DEB486B}"/>
              </a:ext>
            </a:extLst>
          </p:cNvPr>
          <p:cNvSpPr>
            <a:spLocks noGrp="1"/>
          </p:cNvSpPr>
          <p:nvPr>
            <p:ph type="body" sz="quarter" idx="12"/>
          </p:nvPr>
        </p:nvSpPr>
        <p:spPr>
          <a:xfrm>
            <a:off x="816494" y="1618310"/>
            <a:ext cx="10193629" cy="477520"/>
          </a:xfrm>
        </p:spPr>
        <p:txBody>
          <a:bodyPr>
            <a:normAutofit/>
          </a:bodyPr>
          <a:lstStyle/>
          <a:p>
            <a:pPr marL="0" indent="0">
              <a:buNone/>
            </a:pPr>
            <a:r>
              <a:rPr lang="en-IN" b="1" dirty="0"/>
              <a:t>Question 5: Health</a:t>
            </a:r>
          </a:p>
        </p:txBody>
      </p:sp>
      <p:sp>
        <p:nvSpPr>
          <p:cNvPr id="2" name="TextBox 1">
            <a:extLst>
              <a:ext uri="{FF2B5EF4-FFF2-40B4-BE49-F238E27FC236}">
                <a16:creationId xmlns:a16="http://schemas.microsoft.com/office/drawing/2014/main" id="{D7ACE2BA-2FE3-031B-9F5F-AA4A85C48678}"/>
              </a:ext>
            </a:extLst>
          </p:cNvPr>
          <p:cNvSpPr txBox="1"/>
          <p:nvPr/>
        </p:nvSpPr>
        <p:spPr>
          <a:xfrm>
            <a:off x="1651519" y="2500884"/>
            <a:ext cx="4609322" cy="1169551"/>
          </a:xfrm>
          <a:prstGeom prst="rect">
            <a:avLst/>
          </a:prstGeom>
          <a:noFill/>
        </p:spPr>
        <p:txBody>
          <a:bodyPr wrap="square" rtlCol="0">
            <a:spAutoFit/>
          </a:bodyPr>
          <a:lstStyle/>
          <a:p>
            <a:r>
              <a:rPr lang="en-IN" sz="1400" dirty="0"/>
              <a:t>What About the Health Variable? </a:t>
            </a:r>
          </a:p>
          <a:p>
            <a:r>
              <a:rPr lang="en-IN" sz="1400" dirty="0"/>
              <a:t>             We now examine the recorded health variable. </a:t>
            </a:r>
          </a:p>
          <a:p>
            <a:r>
              <a:rPr lang="en-IN" sz="1400" dirty="0"/>
              <a:t>Does the health measure show a statistical relationship with doctor visits?</a:t>
            </a:r>
          </a:p>
        </p:txBody>
      </p:sp>
      <p:pic>
        <p:nvPicPr>
          <p:cNvPr id="6" name="Picture 5">
            <a:extLst>
              <a:ext uri="{FF2B5EF4-FFF2-40B4-BE49-F238E27FC236}">
                <a16:creationId xmlns:a16="http://schemas.microsoft.com/office/drawing/2014/main" id="{C9802FDB-D29F-79B1-7655-3029A50D7093}"/>
              </a:ext>
            </a:extLst>
          </p:cNvPr>
          <p:cNvPicPr>
            <a:picLocks noChangeAspect="1"/>
          </p:cNvPicPr>
          <p:nvPr/>
        </p:nvPicPr>
        <p:blipFill>
          <a:blip r:embed="rId3"/>
          <a:stretch>
            <a:fillRect/>
          </a:stretch>
        </p:blipFill>
        <p:spPr>
          <a:xfrm>
            <a:off x="6730483" y="2095830"/>
            <a:ext cx="4279640" cy="3230527"/>
          </a:xfrm>
          <a:prstGeom prst="rect">
            <a:avLst/>
          </a:prstGeom>
        </p:spPr>
      </p:pic>
      <p:sp>
        <p:nvSpPr>
          <p:cNvPr id="9" name="TextBox 8">
            <a:extLst>
              <a:ext uri="{FF2B5EF4-FFF2-40B4-BE49-F238E27FC236}">
                <a16:creationId xmlns:a16="http://schemas.microsoft.com/office/drawing/2014/main" id="{6CE1B70E-3D2B-70AB-A103-7073420A37A8}"/>
              </a:ext>
            </a:extLst>
          </p:cNvPr>
          <p:cNvSpPr txBox="1"/>
          <p:nvPr/>
        </p:nvSpPr>
        <p:spPr>
          <a:xfrm>
            <a:off x="1726164" y="4197634"/>
            <a:ext cx="4534677" cy="1384995"/>
          </a:xfrm>
          <a:prstGeom prst="rect">
            <a:avLst/>
          </a:prstGeom>
          <a:noFill/>
        </p:spPr>
        <p:txBody>
          <a:bodyPr wrap="square" rtlCol="0">
            <a:spAutoFit/>
          </a:bodyPr>
          <a:lstStyle/>
          <a:p>
            <a:r>
              <a:rPr lang="en-IN" sz="1400" dirty="0"/>
              <a:t>Observation:</a:t>
            </a:r>
          </a:p>
          <a:p>
            <a:r>
              <a:rPr lang="en-IN" sz="1400" dirty="0"/>
              <a:t>                      The Spearman correlation between the health variable and doctor visits is approximately **0.178**. This represents a positive statistical association, although it is weaker than the associations observed for reduced activity and illness.</a:t>
            </a:r>
          </a:p>
        </p:txBody>
      </p:sp>
      <p:sp>
        <p:nvSpPr>
          <p:cNvPr id="12" name="TextBox 11">
            <a:extLst>
              <a:ext uri="{FF2B5EF4-FFF2-40B4-BE49-F238E27FC236}">
                <a16:creationId xmlns:a16="http://schemas.microsoft.com/office/drawing/2014/main" id="{F5946958-8341-4F2F-E2FE-3DFE494F27D8}"/>
              </a:ext>
            </a:extLst>
          </p:cNvPr>
          <p:cNvSpPr txBox="1"/>
          <p:nvPr/>
        </p:nvSpPr>
        <p:spPr>
          <a:xfrm>
            <a:off x="1180323" y="6054550"/>
            <a:ext cx="5551714" cy="307777"/>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2530388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2380E-FEB4-A6A3-A98D-B6E412ECA9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B715DD-24BA-E035-263E-41862B367DF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4BEDC81-5CCD-6EDC-8300-CE453D304D3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08C382F-C2FF-3516-B46F-2647DBB66B4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A9176C0-4B6D-656C-6256-BCFFD8E7BF7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5AA2A7D-482C-7718-AF7B-4D7910BFD51B}"/>
              </a:ext>
            </a:extLst>
          </p:cNvPr>
          <p:cNvSpPr>
            <a:spLocks noGrp="1"/>
          </p:cNvSpPr>
          <p:nvPr>
            <p:ph type="body" sz="quarter" idx="12"/>
          </p:nvPr>
        </p:nvSpPr>
        <p:spPr>
          <a:xfrm>
            <a:off x="807162" y="1588015"/>
            <a:ext cx="10193629" cy="477520"/>
          </a:xfrm>
        </p:spPr>
        <p:txBody>
          <a:bodyPr>
            <a:normAutofit/>
          </a:bodyPr>
          <a:lstStyle/>
          <a:p>
            <a:pPr marL="0" indent="0">
              <a:buNone/>
            </a:pPr>
            <a:r>
              <a:rPr lang="en-IN" b="1" dirty="0"/>
              <a:t>Question 6: Gender</a:t>
            </a:r>
          </a:p>
        </p:txBody>
      </p:sp>
      <p:sp>
        <p:nvSpPr>
          <p:cNvPr id="2" name="TextBox 1">
            <a:extLst>
              <a:ext uri="{FF2B5EF4-FFF2-40B4-BE49-F238E27FC236}">
                <a16:creationId xmlns:a16="http://schemas.microsoft.com/office/drawing/2014/main" id="{5EB9A846-76DC-C0FF-D04B-FC59DA3D736C}"/>
              </a:ext>
            </a:extLst>
          </p:cNvPr>
          <p:cNvSpPr txBox="1"/>
          <p:nvPr/>
        </p:nvSpPr>
        <p:spPr>
          <a:xfrm>
            <a:off x="1392627" y="2378179"/>
            <a:ext cx="4529946" cy="954107"/>
          </a:xfrm>
          <a:prstGeom prst="rect">
            <a:avLst/>
          </a:prstGeom>
          <a:noFill/>
        </p:spPr>
        <p:txBody>
          <a:bodyPr wrap="square" rtlCol="0">
            <a:spAutoFit/>
          </a:bodyPr>
          <a:lstStyle/>
          <a:p>
            <a:r>
              <a:rPr lang="en-IN" sz="1400" dirty="0"/>
              <a:t>Are Doctor Visits Different by Gender? </a:t>
            </a:r>
          </a:p>
          <a:p>
            <a:r>
              <a:rPr lang="en-IN" sz="1400" dirty="0"/>
              <a:t>          We now return to demographic characteristics.</a:t>
            </a:r>
          </a:p>
          <a:p>
            <a:r>
              <a:rPr lang="en-IN" sz="1400" dirty="0"/>
              <a:t>Do the gender groups show different average doctor-visit patterns?</a:t>
            </a:r>
          </a:p>
        </p:txBody>
      </p:sp>
      <p:pic>
        <p:nvPicPr>
          <p:cNvPr id="6" name="Picture 5">
            <a:extLst>
              <a:ext uri="{FF2B5EF4-FFF2-40B4-BE49-F238E27FC236}">
                <a16:creationId xmlns:a16="http://schemas.microsoft.com/office/drawing/2014/main" id="{4A0EFB64-2555-1E15-104D-22D34E423D71}"/>
              </a:ext>
            </a:extLst>
          </p:cNvPr>
          <p:cNvPicPr>
            <a:picLocks noChangeAspect="1"/>
          </p:cNvPicPr>
          <p:nvPr/>
        </p:nvPicPr>
        <p:blipFill>
          <a:blip r:embed="rId3"/>
          <a:stretch>
            <a:fillRect/>
          </a:stretch>
        </p:blipFill>
        <p:spPr>
          <a:xfrm>
            <a:off x="5661750" y="2065535"/>
            <a:ext cx="4654148" cy="3215592"/>
          </a:xfrm>
          <a:prstGeom prst="rect">
            <a:avLst/>
          </a:prstGeom>
        </p:spPr>
      </p:pic>
      <p:sp>
        <p:nvSpPr>
          <p:cNvPr id="9" name="TextBox 8">
            <a:extLst>
              <a:ext uri="{FF2B5EF4-FFF2-40B4-BE49-F238E27FC236}">
                <a16:creationId xmlns:a16="http://schemas.microsoft.com/office/drawing/2014/main" id="{C111DD72-EA75-B87E-4FE0-734B4466287D}"/>
              </a:ext>
            </a:extLst>
          </p:cNvPr>
          <p:cNvSpPr txBox="1"/>
          <p:nvPr/>
        </p:nvSpPr>
        <p:spPr>
          <a:xfrm>
            <a:off x="1483567" y="4007533"/>
            <a:ext cx="4086809" cy="1600438"/>
          </a:xfrm>
          <a:prstGeom prst="rect">
            <a:avLst/>
          </a:prstGeom>
          <a:noFill/>
        </p:spPr>
        <p:txBody>
          <a:bodyPr wrap="square" rtlCol="0">
            <a:spAutoFit/>
          </a:bodyPr>
          <a:lstStyle/>
          <a:p>
            <a:r>
              <a:rPr lang="en-IN" sz="1400" dirty="0"/>
              <a:t>Observation:</a:t>
            </a:r>
          </a:p>
          <a:p>
            <a:r>
              <a:rPr lang="en-IN" sz="1400" dirty="0"/>
              <a:t>                    The two gender groups show different distributions of doctor visits in this dataset. The statistical test provides evidence of a difference between the groups. This result describes the observed data and does not explain why the difference exists.</a:t>
            </a:r>
          </a:p>
        </p:txBody>
      </p:sp>
      <p:sp>
        <p:nvSpPr>
          <p:cNvPr id="11" name="TextBox 10">
            <a:extLst>
              <a:ext uri="{FF2B5EF4-FFF2-40B4-BE49-F238E27FC236}">
                <a16:creationId xmlns:a16="http://schemas.microsoft.com/office/drawing/2014/main" id="{4D8B6E26-EADB-AA48-47AA-1439D4CD14F6}"/>
              </a:ext>
            </a:extLst>
          </p:cNvPr>
          <p:cNvSpPr txBox="1"/>
          <p:nvPr/>
        </p:nvSpPr>
        <p:spPr>
          <a:xfrm>
            <a:off x="944686" y="6040057"/>
            <a:ext cx="6802016" cy="307777"/>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194782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EDECF-F66F-BCF8-232A-C3394EDBCF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A099A9-0992-F519-121F-6A99C0406FA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AF5B32F-C3DE-BF11-9E32-6A2BC09DF25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ADBCC4A-4AC0-45B9-3C77-0EE6756D0C8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6E496A2-3BCE-025E-1421-38C3308D145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DFCC6FF-33BF-7DEC-E945-8BB82548BAF7}"/>
              </a:ext>
            </a:extLst>
          </p:cNvPr>
          <p:cNvSpPr>
            <a:spLocks noGrp="1"/>
          </p:cNvSpPr>
          <p:nvPr>
            <p:ph type="body" sz="quarter" idx="12"/>
          </p:nvPr>
        </p:nvSpPr>
        <p:spPr>
          <a:xfrm>
            <a:off x="688164" y="1832147"/>
            <a:ext cx="10193629" cy="477520"/>
          </a:xfrm>
        </p:spPr>
        <p:txBody>
          <a:bodyPr>
            <a:normAutofit/>
          </a:bodyPr>
          <a:lstStyle/>
          <a:p>
            <a:pPr marL="0" indent="0">
              <a:buNone/>
            </a:pPr>
            <a:r>
              <a:rPr lang="en-IN" b="1" dirty="0"/>
              <a:t>Question 7: Chronic Conditions</a:t>
            </a:r>
          </a:p>
        </p:txBody>
      </p:sp>
      <p:sp>
        <p:nvSpPr>
          <p:cNvPr id="2" name="TextBox 1">
            <a:extLst>
              <a:ext uri="{FF2B5EF4-FFF2-40B4-BE49-F238E27FC236}">
                <a16:creationId xmlns:a16="http://schemas.microsoft.com/office/drawing/2014/main" id="{717ED0FA-3773-2C79-CD4A-B2234CDFD64C}"/>
              </a:ext>
            </a:extLst>
          </p:cNvPr>
          <p:cNvSpPr txBox="1"/>
          <p:nvPr/>
        </p:nvSpPr>
        <p:spPr>
          <a:xfrm>
            <a:off x="1063689" y="3061048"/>
            <a:ext cx="4721289" cy="1815882"/>
          </a:xfrm>
          <a:prstGeom prst="rect">
            <a:avLst/>
          </a:prstGeom>
          <a:noFill/>
        </p:spPr>
        <p:txBody>
          <a:bodyPr wrap="square" rtlCol="0">
            <a:spAutoFit/>
          </a:bodyPr>
          <a:lstStyle/>
          <a:p>
            <a:r>
              <a:rPr lang="en-IN" sz="1400" dirty="0"/>
              <a:t>Do Chronic Conditions Relate to Visits? </a:t>
            </a:r>
          </a:p>
          <a:p>
            <a:r>
              <a:rPr lang="en-IN" sz="1400" dirty="0"/>
              <a:t>           The dataset contains indicators for chronic conditions. We examine: </a:t>
            </a:r>
          </a:p>
          <a:p>
            <a:pPr marL="1200150" lvl="2" indent="-285750">
              <a:buFontTx/>
              <a:buChar char="-"/>
            </a:pPr>
            <a:r>
              <a:rPr lang="en-IN" sz="1400" dirty="0"/>
              <a:t>`</a:t>
            </a:r>
            <a:r>
              <a:rPr lang="en-IN" sz="1400" dirty="0" err="1"/>
              <a:t>nchronic</a:t>
            </a:r>
            <a:r>
              <a:rPr lang="en-IN" sz="1400" dirty="0"/>
              <a:t>` </a:t>
            </a:r>
          </a:p>
          <a:p>
            <a:pPr marL="1200150" lvl="2" indent="-285750">
              <a:buFontTx/>
              <a:buChar char="-"/>
            </a:pPr>
            <a:r>
              <a:rPr lang="en-IN" sz="1400" dirty="0"/>
              <a:t>`</a:t>
            </a:r>
            <a:r>
              <a:rPr lang="en-IN" sz="1400" dirty="0" err="1"/>
              <a:t>lchronic</a:t>
            </a:r>
            <a:r>
              <a:rPr lang="en-IN" sz="1400" dirty="0"/>
              <a:t>` </a:t>
            </a:r>
          </a:p>
          <a:p>
            <a:r>
              <a:rPr lang="en-IN" sz="1400" dirty="0"/>
              <a:t>The question is: </a:t>
            </a:r>
          </a:p>
          <a:p>
            <a:r>
              <a:rPr lang="en-IN" sz="1400" dirty="0"/>
              <a:t>             Do records with chronic-condition indicators show different doctor-visit patterns?</a:t>
            </a:r>
          </a:p>
        </p:txBody>
      </p:sp>
      <p:pic>
        <p:nvPicPr>
          <p:cNvPr id="6" name="Picture 5">
            <a:extLst>
              <a:ext uri="{FF2B5EF4-FFF2-40B4-BE49-F238E27FC236}">
                <a16:creationId xmlns:a16="http://schemas.microsoft.com/office/drawing/2014/main" id="{A3354D17-DA87-259F-38C1-FA62CB384F8F}"/>
              </a:ext>
            </a:extLst>
          </p:cNvPr>
          <p:cNvPicPr>
            <a:picLocks noChangeAspect="1"/>
          </p:cNvPicPr>
          <p:nvPr/>
        </p:nvPicPr>
        <p:blipFill>
          <a:blip r:embed="rId3"/>
          <a:srcRect l="3698" t="1552"/>
          <a:stretch>
            <a:fillRect/>
          </a:stretch>
        </p:blipFill>
        <p:spPr>
          <a:xfrm>
            <a:off x="6017474" y="1352939"/>
            <a:ext cx="3766458" cy="2515678"/>
          </a:xfrm>
          <a:prstGeom prst="rect">
            <a:avLst/>
          </a:prstGeom>
        </p:spPr>
      </p:pic>
      <p:pic>
        <p:nvPicPr>
          <p:cNvPr id="11" name="Picture 10">
            <a:extLst>
              <a:ext uri="{FF2B5EF4-FFF2-40B4-BE49-F238E27FC236}">
                <a16:creationId xmlns:a16="http://schemas.microsoft.com/office/drawing/2014/main" id="{D2E9ABEB-565B-17BC-BC49-0CB33AF20EF8}"/>
              </a:ext>
            </a:extLst>
          </p:cNvPr>
          <p:cNvPicPr>
            <a:picLocks noChangeAspect="1"/>
          </p:cNvPicPr>
          <p:nvPr/>
        </p:nvPicPr>
        <p:blipFill>
          <a:blip r:embed="rId4"/>
          <a:srcRect l="1" r="7583"/>
          <a:stretch>
            <a:fillRect/>
          </a:stretch>
        </p:blipFill>
        <p:spPr>
          <a:xfrm>
            <a:off x="6096000" y="4070676"/>
            <a:ext cx="3841102" cy="2497764"/>
          </a:xfrm>
          <a:prstGeom prst="rect">
            <a:avLst/>
          </a:prstGeom>
        </p:spPr>
      </p:pic>
      <p:sp>
        <p:nvSpPr>
          <p:cNvPr id="12" name="TextBox 11">
            <a:extLst>
              <a:ext uri="{FF2B5EF4-FFF2-40B4-BE49-F238E27FC236}">
                <a16:creationId xmlns:a16="http://schemas.microsoft.com/office/drawing/2014/main" id="{ED9C0584-FEC8-F997-DA6E-5860DB08CFCB}"/>
              </a:ext>
            </a:extLst>
          </p:cNvPr>
          <p:cNvSpPr txBox="1"/>
          <p:nvPr/>
        </p:nvSpPr>
        <p:spPr>
          <a:xfrm>
            <a:off x="656711" y="5949813"/>
            <a:ext cx="5360763" cy="307777"/>
          </a:xfrm>
          <a:prstGeom prst="rect">
            <a:avLst/>
          </a:prstGeom>
          <a:noFill/>
        </p:spPr>
        <p:txBody>
          <a:bodyPr wrap="non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312573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83217-170C-A0D2-597D-96083532AB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4A5B97-A645-23D7-7B04-703B9670809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72DA2F3-D799-9DF4-8C85-90AB780B481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BEAEC3B-706F-5072-94DF-5D2AEB05F41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DA2AB48-516C-60F7-640E-FA0724FFB21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D13FE72-107C-65DF-F7BF-FA4F8E39F0DA}"/>
              </a:ext>
            </a:extLst>
          </p:cNvPr>
          <p:cNvSpPr>
            <a:spLocks noGrp="1"/>
          </p:cNvSpPr>
          <p:nvPr>
            <p:ph type="body" sz="quarter" idx="12"/>
          </p:nvPr>
        </p:nvSpPr>
        <p:spPr>
          <a:xfrm>
            <a:off x="741181" y="1359331"/>
            <a:ext cx="10193629" cy="477520"/>
          </a:xfrm>
        </p:spPr>
        <p:txBody>
          <a:bodyPr>
            <a:normAutofit/>
          </a:bodyPr>
          <a:lstStyle/>
          <a:p>
            <a:pPr marL="0" indent="0">
              <a:buNone/>
            </a:pPr>
            <a:r>
              <a:rPr lang="en-IN" b="1" dirty="0"/>
              <a:t>Healthcare Access Variables</a:t>
            </a:r>
          </a:p>
        </p:txBody>
      </p:sp>
      <p:sp>
        <p:nvSpPr>
          <p:cNvPr id="3" name="TextBox 2">
            <a:extLst>
              <a:ext uri="{FF2B5EF4-FFF2-40B4-BE49-F238E27FC236}">
                <a16:creationId xmlns:a16="http://schemas.microsoft.com/office/drawing/2014/main" id="{EA12A6D2-B19A-8301-0929-267FFE00AC2F}"/>
              </a:ext>
            </a:extLst>
          </p:cNvPr>
          <p:cNvSpPr txBox="1"/>
          <p:nvPr/>
        </p:nvSpPr>
        <p:spPr>
          <a:xfrm>
            <a:off x="626612" y="2035727"/>
            <a:ext cx="5801347" cy="2031325"/>
          </a:xfrm>
          <a:prstGeom prst="rect">
            <a:avLst/>
          </a:prstGeom>
          <a:noFill/>
        </p:spPr>
        <p:txBody>
          <a:bodyPr wrap="square" rtlCol="0">
            <a:spAutoFit/>
          </a:bodyPr>
          <a:lstStyle/>
          <a:p>
            <a:r>
              <a:rPr lang="en-IN" sz="1400" dirty="0"/>
              <a:t>Does Healthcare Access Show Different Patterns?       </a:t>
            </a:r>
          </a:p>
          <a:p>
            <a:pPr lvl="2"/>
            <a:r>
              <a:rPr lang="en-IN" sz="1400" dirty="0"/>
              <a:t>      The dataset contains three healthcare-access</a:t>
            </a:r>
          </a:p>
          <a:p>
            <a:r>
              <a:rPr lang="en-IN" sz="1400" dirty="0"/>
              <a:t>indicators:</a:t>
            </a:r>
          </a:p>
          <a:p>
            <a:pPr lvl="2"/>
            <a:r>
              <a:rPr lang="en-IN" sz="1400" dirty="0"/>
              <a:t>- `private` </a:t>
            </a:r>
          </a:p>
          <a:p>
            <a:pPr lvl="2"/>
            <a:r>
              <a:rPr lang="en-IN" sz="1400" dirty="0"/>
              <a:t>- `</a:t>
            </a:r>
            <a:r>
              <a:rPr lang="en-IN" sz="1400" dirty="0" err="1"/>
              <a:t>freepoor</a:t>
            </a:r>
            <a:r>
              <a:rPr lang="en-IN" sz="1400" dirty="0"/>
              <a:t>` </a:t>
            </a:r>
          </a:p>
          <a:p>
            <a:pPr lvl="2"/>
            <a:r>
              <a:rPr lang="en-IN" sz="1400" dirty="0"/>
              <a:t>- `</a:t>
            </a:r>
            <a:r>
              <a:rPr lang="en-IN" sz="1400" dirty="0" err="1"/>
              <a:t>freerepat</a:t>
            </a:r>
            <a:r>
              <a:rPr lang="en-IN" sz="1400" dirty="0"/>
              <a:t>` </a:t>
            </a:r>
          </a:p>
          <a:p>
            <a:r>
              <a:rPr lang="en-IN" sz="1400" dirty="0"/>
              <a:t>We compare average doctor visits across their categories. The goal is not to claim that access causes visits, but to identify patterns worth investigating.</a:t>
            </a:r>
          </a:p>
        </p:txBody>
      </p:sp>
      <p:pic>
        <p:nvPicPr>
          <p:cNvPr id="9" name="Picture 8">
            <a:extLst>
              <a:ext uri="{FF2B5EF4-FFF2-40B4-BE49-F238E27FC236}">
                <a16:creationId xmlns:a16="http://schemas.microsoft.com/office/drawing/2014/main" id="{C3C8ED21-01DE-FB53-7350-204D36B97D25}"/>
              </a:ext>
            </a:extLst>
          </p:cNvPr>
          <p:cNvPicPr>
            <a:picLocks noChangeAspect="1"/>
          </p:cNvPicPr>
          <p:nvPr/>
        </p:nvPicPr>
        <p:blipFill>
          <a:blip r:embed="rId3"/>
          <a:stretch>
            <a:fillRect/>
          </a:stretch>
        </p:blipFill>
        <p:spPr>
          <a:xfrm>
            <a:off x="6354005" y="1415160"/>
            <a:ext cx="3176477" cy="2489327"/>
          </a:xfrm>
          <a:prstGeom prst="rect">
            <a:avLst/>
          </a:prstGeom>
        </p:spPr>
      </p:pic>
      <p:pic>
        <p:nvPicPr>
          <p:cNvPr id="12" name="Picture 11">
            <a:extLst>
              <a:ext uri="{FF2B5EF4-FFF2-40B4-BE49-F238E27FC236}">
                <a16:creationId xmlns:a16="http://schemas.microsoft.com/office/drawing/2014/main" id="{67B1D12D-4EC1-D261-1381-8166154CC1A9}"/>
              </a:ext>
            </a:extLst>
          </p:cNvPr>
          <p:cNvPicPr>
            <a:picLocks noChangeAspect="1"/>
          </p:cNvPicPr>
          <p:nvPr/>
        </p:nvPicPr>
        <p:blipFill>
          <a:blip r:embed="rId4"/>
          <a:stretch>
            <a:fillRect/>
          </a:stretch>
        </p:blipFill>
        <p:spPr>
          <a:xfrm>
            <a:off x="626612" y="4282496"/>
            <a:ext cx="3080331" cy="2575504"/>
          </a:xfrm>
          <a:prstGeom prst="rect">
            <a:avLst/>
          </a:prstGeom>
        </p:spPr>
      </p:pic>
      <p:pic>
        <p:nvPicPr>
          <p:cNvPr id="14" name="Picture 13">
            <a:extLst>
              <a:ext uri="{FF2B5EF4-FFF2-40B4-BE49-F238E27FC236}">
                <a16:creationId xmlns:a16="http://schemas.microsoft.com/office/drawing/2014/main" id="{C712B5D6-D556-F9C9-F010-48FC077289B3}"/>
              </a:ext>
            </a:extLst>
          </p:cNvPr>
          <p:cNvPicPr>
            <a:picLocks noChangeAspect="1"/>
          </p:cNvPicPr>
          <p:nvPr/>
        </p:nvPicPr>
        <p:blipFill>
          <a:blip r:embed="rId5"/>
          <a:stretch>
            <a:fillRect/>
          </a:stretch>
        </p:blipFill>
        <p:spPr>
          <a:xfrm>
            <a:off x="3706943" y="4335375"/>
            <a:ext cx="3080330" cy="2522625"/>
          </a:xfrm>
          <a:prstGeom prst="rect">
            <a:avLst/>
          </a:prstGeom>
        </p:spPr>
      </p:pic>
      <p:sp>
        <p:nvSpPr>
          <p:cNvPr id="15" name="TextBox 14">
            <a:extLst>
              <a:ext uri="{FF2B5EF4-FFF2-40B4-BE49-F238E27FC236}">
                <a16:creationId xmlns:a16="http://schemas.microsoft.com/office/drawing/2014/main" id="{58E2BB2F-DBF4-AD40-3643-CC3E84E66436}"/>
              </a:ext>
            </a:extLst>
          </p:cNvPr>
          <p:cNvSpPr txBox="1"/>
          <p:nvPr/>
        </p:nvSpPr>
        <p:spPr>
          <a:xfrm>
            <a:off x="7156580" y="4704176"/>
            <a:ext cx="3545633" cy="523220"/>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304047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30C62-9D04-0622-991F-28C3901D1B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EDA2A2-225F-EAB5-2BF2-86A60C0119E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0CE9A52-FA85-8924-AC0B-B62FE904094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F48C8C7-0230-1B8C-E956-C95E671EC1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30916DF-72F4-CDEB-3FB4-709987DF8FE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37B5839-18F4-7B97-76F3-64FC9135C486}"/>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Income</a:t>
            </a:r>
          </a:p>
        </p:txBody>
      </p:sp>
      <p:sp>
        <p:nvSpPr>
          <p:cNvPr id="2" name="TextBox 1">
            <a:extLst>
              <a:ext uri="{FF2B5EF4-FFF2-40B4-BE49-F238E27FC236}">
                <a16:creationId xmlns:a16="http://schemas.microsoft.com/office/drawing/2014/main" id="{F453A7DC-9D79-CA9C-389A-2DCBA466DB6C}"/>
              </a:ext>
            </a:extLst>
          </p:cNvPr>
          <p:cNvSpPr txBox="1"/>
          <p:nvPr/>
        </p:nvSpPr>
        <p:spPr>
          <a:xfrm>
            <a:off x="979294" y="2159817"/>
            <a:ext cx="4567270" cy="1169551"/>
          </a:xfrm>
          <a:prstGeom prst="rect">
            <a:avLst/>
          </a:prstGeom>
          <a:noFill/>
        </p:spPr>
        <p:txBody>
          <a:bodyPr wrap="square" rtlCol="0">
            <a:spAutoFit/>
          </a:bodyPr>
          <a:lstStyle/>
          <a:p>
            <a:r>
              <a:rPr lang="en-IN" sz="1400" dirty="0"/>
              <a:t>Is Income Related to Doctor Visits? </a:t>
            </a:r>
          </a:p>
          <a:p>
            <a:r>
              <a:rPr lang="en-IN" sz="1400" dirty="0"/>
              <a:t>          The dataset also contains an income variable. We ask: </a:t>
            </a:r>
          </a:p>
          <a:p>
            <a:r>
              <a:rPr lang="en-IN" sz="1400" dirty="0"/>
              <a:t>            Does the recorded income value show an association with doctor visits?</a:t>
            </a:r>
          </a:p>
        </p:txBody>
      </p:sp>
      <p:pic>
        <p:nvPicPr>
          <p:cNvPr id="6" name="Picture 5">
            <a:extLst>
              <a:ext uri="{FF2B5EF4-FFF2-40B4-BE49-F238E27FC236}">
                <a16:creationId xmlns:a16="http://schemas.microsoft.com/office/drawing/2014/main" id="{60A3E043-CE74-FB96-AAB2-733EE72F1EAB}"/>
              </a:ext>
            </a:extLst>
          </p:cNvPr>
          <p:cNvPicPr>
            <a:picLocks noChangeAspect="1"/>
          </p:cNvPicPr>
          <p:nvPr/>
        </p:nvPicPr>
        <p:blipFill>
          <a:blip r:embed="rId3"/>
          <a:stretch>
            <a:fillRect/>
          </a:stretch>
        </p:blipFill>
        <p:spPr>
          <a:xfrm>
            <a:off x="5701004" y="2097771"/>
            <a:ext cx="4567270" cy="3015406"/>
          </a:xfrm>
          <a:prstGeom prst="rect">
            <a:avLst/>
          </a:prstGeom>
        </p:spPr>
      </p:pic>
      <p:sp>
        <p:nvSpPr>
          <p:cNvPr id="9" name="TextBox 8">
            <a:extLst>
              <a:ext uri="{FF2B5EF4-FFF2-40B4-BE49-F238E27FC236}">
                <a16:creationId xmlns:a16="http://schemas.microsoft.com/office/drawing/2014/main" id="{79682F84-ACAE-A2B9-6E11-54AB68E04CC6}"/>
              </a:ext>
            </a:extLst>
          </p:cNvPr>
          <p:cNvSpPr txBox="1"/>
          <p:nvPr/>
        </p:nvSpPr>
        <p:spPr>
          <a:xfrm>
            <a:off x="977218" y="3731107"/>
            <a:ext cx="4380658" cy="1600438"/>
          </a:xfrm>
          <a:prstGeom prst="rect">
            <a:avLst/>
          </a:prstGeom>
          <a:noFill/>
        </p:spPr>
        <p:txBody>
          <a:bodyPr wrap="square" rtlCol="0">
            <a:spAutoFit/>
          </a:bodyPr>
          <a:lstStyle/>
          <a:p>
            <a:r>
              <a:rPr lang="en-IN" sz="1400" dirty="0"/>
              <a:t>Observation:</a:t>
            </a:r>
          </a:p>
          <a:p>
            <a:r>
              <a:rPr lang="en-IN" sz="1400" dirty="0"/>
              <a:t>                    The Spearman correlation between income and doctor visits is approximately **−0.093**. This indicates a weak negative statistical association in this dataset. The relationship is much weaker than the positive associations observed for reduced activity and illness.</a:t>
            </a:r>
          </a:p>
        </p:txBody>
      </p:sp>
      <p:sp>
        <p:nvSpPr>
          <p:cNvPr id="11" name="TextBox 10">
            <a:extLst>
              <a:ext uri="{FF2B5EF4-FFF2-40B4-BE49-F238E27FC236}">
                <a16:creationId xmlns:a16="http://schemas.microsoft.com/office/drawing/2014/main" id="{44C2A885-B658-1102-EF50-C033102E7ADA}"/>
              </a:ext>
            </a:extLst>
          </p:cNvPr>
          <p:cNvSpPr txBox="1"/>
          <p:nvPr/>
        </p:nvSpPr>
        <p:spPr>
          <a:xfrm>
            <a:off x="977218" y="6071408"/>
            <a:ext cx="5360763" cy="307777"/>
          </a:xfrm>
          <a:prstGeom prst="rect">
            <a:avLst/>
          </a:prstGeom>
          <a:noFill/>
        </p:spPr>
        <p:txBody>
          <a:bodyPr wrap="non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13446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E7240-0E72-BCB0-457E-F80C332D7A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900BB67-CAF8-34E1-12E5-080CA9E6207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D30786-7C13-37C4-17B1-15DC8C05BB5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1735BFB-FB21-7798-DA62-B316305F374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3985A7E-3F55-572C-4939-B203089517A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D6514CF-5DA8-27C5-10B4-FF8A4F7F79DB}"/>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BIG QUESTION: Compare All Numeric Factors</a:t>
            </a:r>
          </a:p>
        </p:txBody>
      </p:sp>
      <p:sp>
        <p:nvSpPr>
          <p:cNvPr id="2" name="TextBox 1">
            <a:extLst>
              <a:ext uri="{FF2B5EF4-FFF2-40B4-BE49-F238E27FC236}">
                <a16:creationId xmlns:a16="http://schemas.microsoft.com/office/drawing/2014/main" id="{790F1976-C31D-EC97-080D-B104633A26DB}"/>
              </a:ext>
            </a:extLst>
          </p:cNvPr>
          <p:cNvSpPr txBox="1"/>
          <p:nvPr/>
        </p:nvSpPr>
        <p:spPr>
          <a:xfrm>
            <a:off x="914399" y="2062065"/>
            <a:ext cx="7389845" cy="1169551"/>
          </a:xfrm>
          <a:prstGeom prst="rect">
            <a:avLst/>
          </a:prstGeom>
          <a:noFill/>
        </p:spPr>
        <p:txBody>
          <a:bodyPr wrap="square" rtlCol="0">
            <a:spAutoFit/>
          </a:bodyPr>
          <a:lstStyle/>
          <a:p>
            <a:r>
              <a:rPr lang="en-IN" sz="1400" dirty="0"/>
              <a:t>⭐ Final Analytical Question </a:t>
            </a:r>
          </a:p>
          <a:p>
            <a:r>
              <a:rPr lang="en-IN" sz="1400" dirty="0"/>
              <a:t>                 Which Numerical Factors Show the Strongest Association with Doctor Visits? </a:t>
            </a:r>
          </a:p>
          <a:p>
            <a:r>
              <a:rPr lang="en-IN" sz="1400" dirty="0"/>
              <a:t>We have examined the variables individually. Now we compare them together using Spearman correlation. This helps us move from individual observations to an overall analytical picture.</a:t>
            </a:r>
          </a:p>
        </p:txBody>
      </p:sp>
      <p:pic>
        <p:nvPicPr>
          <p:cNvPr id="6" name="Picture 5">
            <a:extLst>
              <a:ext uri="{FF2B5EF4-FFF2-40B4-BE49-F238E27FC236}">
                <a16:creationId xmlns:a16="http://schemas.microsoft.com/office/drawing/2014/main" id="{C99DAAB1-0456-65FB-039D-3E166D85B075}"/>
              </a:ext>
            </a:extLst>
          </p:cNvPr>
          <p:cNvPicPr>
            <a:picLocks noChangeAspect="1"/>
          </p:cNvPicPr>
          <p:nvPr/>
        </p:nvPicPr>
        <p:blipFill>
          <a:blip r:embed="rId3"/>
          <a:stretch>
            <a:fillRect/>
          </a:stretch>
        </p:blipFill>
        <p:spPr>
          <a:xfrm>
            <a:off x="3191069" y="3384467"/>
            <a:ext cx="3868001" cy="3184283"/>
          </a:xfrm>
          <a:prstGeom prst="rect">
            <a:avLst/>
          </a:prstGeom>
        </p:spPr>
      </p:pic>
    </p:spTree>
    <p:extLst>
      <p:ext uri="{BB962C8B-B14F-4D97-AF65-F5344CB8AC3E}">
        <p14:creationId xmlns:p14="http://schemas.microsoft.com/office/powerpoint/2010/main" val="178569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8E180-71CB-26B9-3009-0A9085FADA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F3E252-3F5D-CD38-7ECB-4542B7EAFB3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CF69E06-82D8-A0DC-3D83-720C95D1EA8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CDE84E9-963B-ADE5-1DD5-F89226DF6CA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8C71EA9-3BBF-6844-E747-056B56E70AE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CE58997-3EDA-D9FC-BABA-6F4BD9B722D6}"/>
              </a:ext>
            </a:extLst>
          </p:cNvPr>
          <p:cNvSpPr>
            <a:spLocks noGrp="1"/>
          </p:cNvSpPr>
          <p:nvPr>
            <p:ph type="body" sz="quarter" idx="12"/>
          </p:nvPr>
        </p:nvSpPr>
        <p:spPr>
          <a:xfrm>
            <a:off x="807163" y="1431693"/>
            <a:ext cx="10193629" cy="477520"/>
          </a:xfrm>
        </p:spPr>
        <p:txBody>
          <a:bodyPr>
            <a:normAutofit/>
          </a:bodyPr>
          <a:lstStyle/>
          <a:p>
            <a:pPr marL="0" indent="0">
              <a:buNone/>
            </a:pPr>
            <a:r>
              <a:rPr lang="en-IN" b="1" dirty="0"/>
              <a:t>Correlation Heatmap</a:t>
            </a:r>
          </a:p>
        </p:txBody>
      </p:sp>
      <p:pic>
        <p:nvPicPr>
          <p:cNvPr id="3" name="Picture 2">
            <a:extLst>
              <a:ext uri="{FF2B5EF4-FFF2-40B4-BE49-F238E27FC236}">
                <a16:creationId xmlns:a16="http://schemas.microsoft.com/office/drawing/2014/main" id="{68FF3F22-D876-D9E6-ED39-0071BDC0F87D}"/>
              </a:ext>
            </a:extLst>
          </p:cNvPr>
          <p:cNvPicPr>
            <a:picLocks noChangeAspect="1"/>
          </p:cNvPicPr>
          <p:nvPr/>
        </p:nvPicPr>
        <p:blipFill>
          <a:blip r:embed="rId3"/>
          <a:stretch>
            <a:fillRect/>
          </a:stretch>
        </p:blipFill>
        <p:spPr>
          <a:xfrm>
            <a:off x="2279639" y="1860993"/>
            <a:ext cx="5911226" cy="4496190"/>
          </a:xfrm>
          <a:prstGeom prst="rect">
            <a:avLst/>
          </a:prstGeom>
        </p:spPr>
      </p:pic>
      <p:sp>
        <p:nvSpPr>
          <p:cNvPr id="14" name="TextBox 13">
            <a:extLst>
              <a:ext uri="{FF2B5EF4-FFF2-40B4-BE49-F238E27FC236}">
                <a16:creationId xmlns:a16="http://schemas.microsoft.com/office/drawing/2014/main" id="{56377E4E-4FB9-EC04-E343-D88D4820FE11}"/>
              </a:ext>
            </a:extLst>
          </p:cNvPr>
          <p:cNvSpPr txBox="1"/>
          <p:nvPr/>
        </p:nvSpPr>
        <p:spPr>
          <a:xfrm>
            <a:off x="3797559" y="3191069"/>
            <a:ext cx="1129004" cy="369332"/>
          </a:xfrm>
          <a:prstGeom prst="rect">
            <a:avLst/>
          </a:prstGeom>
          <a:noFill/>
        </p:spPr>
        <p:txBody>
          <a:bodyPr wrap="square" rtlCol="0">
            <a:spAutoFit/>
          </a:bodyPr>
          <a:lstStyle/>
          <a:p>
            <a:endParaRPr lang="en-IN" dirty="0"/>
          </a:p>
        </p:txBody>
      </p:sp>
      <p:sp>
        <p:nvSpPr>
          <p:cNvPr id="16" name="TextBox 15">
            <a:extLst>
              <a:ext uri="{FF2B5EF4-FFF2-40B4-BE49-F238E27FC236}">
                <a16:creationId xmlns:a16="http://schemas.microsoft.com/office/drawing/2014/main" id="{23440686-C868-3718-29AA-114A787F5A78}"/>
              </a:ext>
            </a:extLst>
          </p:cNvPr>
          <p:cNvSpPr txBox="1"/>
          <p:nvPr/>
        </p:nvSpPr>
        <p:spPr>
          <a:xfrm>
            <a:off x="3949959" y="3343469"/>
            <a:ext cx="1129004" cy="369332"/>
          </a:xfrm>
          <a:prstGeom prst="rect">
            <a:avLst/>
          </a:prstGeom>
          <a:noFill/>
        </p:spPr>
        <p:txBody>
          <a:bodyPr wrap="square" rtlCol="0">
            <a:spAutoFit/>
          </a:bodyPr>
          <a:lstStyle/>
          <a:p>
            <a:endParaRPr lang="en-IN" dirty="0"/>
          </a:p>
        </p:txBody>
      </p:sp>
      <p:sp>
        <p:nvSpPr>
          <p:cNvPr id="19" name="TextBox 18">
            <a:extLst>
              <a:ext uri="{FF2B5EF4-FFF2-40B4-BE49-F238E27FC236}">
                <a16:creationId xmlns:a16="http://schemas.microsoft.com/office/drawing/2014/main" id="{398E10F4-117B-30E2-C7BA-4046B954F261}"/>
              </a:ext>
            </a:extLst>
          </p:cNvPr>
          <p:cNvSpPr txBox="1"/>
          <p:nvPr/>
        </p:nvSpPr>
        <p:spPr>
          <a:xfrm>
            <a:off x="675957" y="6471920"/>
            <a:ext cx="6471292" cy="307777"/>
          </a:xfrm>
          <a:prstGeom prst="rect">
            <a:avLst/>
          </a:prstGeom>
          <a:noFill/>
        </p:spPr>
        <p:txBody>
          <a:bodyPr wrap="square" rtlCol="0">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Tree>
    <p:extLst>
      <p:ext uri="{BB962C8B-B14F-4D97-AF65-F5344CB8AC3E}">
        <p14:creationId xmlns:p14="http://schemas.microsoft.com/office/powerpoint/2010/main" val="63984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26736-E1AC-2DDE-B65F-862A5123507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A5851B-7F88-C63F-6BD5-159C42BD209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54ED3B3-4972-631B-0824-8A221AD7D6D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1511CDA-625B-4C08-E76F-BF4796A2785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BD1A704-9AD1-D57D-9F99-E8D1661A7A7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F453DFC-0D26-BF3E-7F3E-1347C7C426E5}"/>
              </a:ext>
            </a:extLst>
          </p:cNvPr>
          <p:cNvSpPr>
            <a:spLocks noGrp="1"/>
          </p:cNvSpPr>
          <p:nvPr>
            <p:ph type="body" sz="quarter" idx="12"/>
          </p:nvPr>
        </p:nvSpPr>
        <p:spPr>
          <a:xfrm>
            <a:off x="675957" y="1700206"/>
            <a:ext cx="10193629" cy="477520"/>
          </a:xfrm>
        </p:spPr>
        <p:txBody>
          <a:bodyPr>
            <a:normAutofit/>
          </a:bodyPr>
          <a:lstStyle/>
          <a:p>
            <a:pPr marL="0" indent="0">
              <a:buNone/>
            </a:pPr>
            <a:r>
              <a:rPr lang="en-IN" b="1" dirty="0"/>
              <a:t>Automatically Find Strongest Relationships</a:t>
            </a:r>
          </a:p>
        </p:txBody>
      </p:sp>
      <p:pic>
        <p:nvPicPr>
          <p:cNvPr id="9" name="Picture 8">
            <a:extLst>
              <a:ext uri="{FF2B5EF4-FFF2-40B4-BE49-F238E27FC236}">
                <a16:creationId xmlns:a16="http://schemas.microsoft.com/office/drawing/2014/main" id="{39B80AB8-7286-FC7E-A904-16CA297299B2}"/>
              </a:ext>
            </a:extLst>
          </p:cNvPr>
          <p:cNvPicPr>
            <a:picLocks noChangeAspect="1"/>
          </p:cNvPicPr>
          <p:nvPr/>
        </p:nvPicPr>
        <p:blipFill>
          <a:blip r:embed="rId3"/>
          <a:stretch>
            <a:fillRect/>
          </a:stretch>
        </p:blipFill>
        <p:spPr>
          <a:xfrm>
            <a:off x="2202025" y="3043690"/>
            <a:ext cx="4753909" cy="2562266"/>
          </a:xfrm>
          <a:prstGeom prst="rect">
            <a:avLst/>
          </a:prstGeom>
        </p:spPr>
      </p:pic>
    </p:spTree>
    <p:extLst>
      <p:ext uri="{BB962C8B-B14F-4D97-AF65-F5344CB8AC3E}">
        <p14:creationId xmlns:p14="http://schemas.microsoft.com/office/powerpoint/2010/main" val="299061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4B6C5-391F-461F-33DB-55EF9E151E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002C53-BFF7-8F71-BA19-83B8BA748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188F0C7-B14E-7348-DDF2-3680D171892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74E035-6405-D4AB-A780-E41BF8F7928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D5D40C9-1003-068D-2E15-F4BBC9020D9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A462EF9-911F-4A62-A4CB-16795E84FE6E}"/>
              </a:ext>
            </a:extLst>
          </p:cNvPr>
          <p:cNvSpPr>
            <a:spLocks noGrp="1"/>
          </p:cNvSpPr>
          <p:nvPr>
            <p:ph type="body" sz="quarter" idx="12"/>
          </p:nvPr>
        </p:nvSpPr>
        <p:spPr>
          <a:xfrm>
            <a:off x="675957" y="1275371"/>
            <a:ext cx="10193629" cy="477520"/>
          </a:xfrm>
        </p:spPr>
        <p:txBody>
          <a:bodyPr>
            <a:normAutofit/>
          </a:bodyPr>
          <a:lstStyle/>
          <a:p>
            <a:pPr marL="0" indent="0">
              <a:buNone/>
            </a:pPr>
            <a:r>
              <a:rPr lang="en-IN" b="1" dirty="0"/>
              <a:t>Final Story / Key Insights</a:t>
            </a:r>
          </a:p>
        </p:txBody>
      </p:sp>
      <p:sp>
        <p:nvSpPr>
          <p:cNvPr id="2" name="TextBox 1">
            <a:extLst>
              <a:ext uri="{FF2B5EF4-FFF2-40B4-BE49-F238E27FC236}">
                <a16:creationId xmlns:a16="http://schemas.microsoft.com/office/drawing/2014/main" id="{B1530591-29A8-E273-356C-D6466E0D0D8D}"/>
              </a:ext>
            </a:extLst>
          </p:cNvPr>
          <p:cNvSpPr txBox="1"/>
          <p:nvPr/>
        </p:nvSpPr>
        <p:spPr>
          <a:xfrm>
            <a:off x="1747519" y="2015234"/>
            <a:ext cx="6578082" cy="3970318"/>
          </a:xfrm>
          <a:prstGeom prst="rect">
            <a:avLst/>
          </a:prstGeom>
          <a:noFill/>
        </p:spPr>
        <p:txBody>
          <a:bodyPr wrap="square" rtlCol="0">
            <a:spAutoFit/>
          </a:bodyPr>
          <a:lstStyle/>
          <a:p>
            <a:r>
              <a:rPr lang="en-IN" sz="1400" dirty="0"/>
              <a:t>🎯 Final Chapter — What Did the Data Tell Us?</a:t>
            </a:r>
          </a:p>
          <a:p>
            <a:endParaRPr lang="en-IN" sz="1400" dirty="0"/>
          </a:p>
          <a:p>
            <a:r>
              <a:rPr lang="en-IN" sz="1400" dirty="0"/>
              <a:t>After moving through demographics, health conditions, healthcare access, and chronic-condition indicators, we can now connect the story.</a:t>
            </a:r>
          </a:p>
          <a:p>
            <a:endParaRPr lang="en-IN" sz="1400" dirty="0"/>
          </a:p>
          <a:p>
            <a:r>
              <a:rPr lang="en-IN" sz="1400" dirty="0"/>
              <a:t>Key Insights:</a:t>
            </a:r>
          </a:p>
          <a:p>
            <a:pPr marL="800100" lvl="1" indent="-342900">
              <a:buAutoNum type="arabicPeriod"/>
            </a:pPr>
            <a:r>
              <a:rPr lang="en-IN" sz="1400" dirty="0"/>
              <a:t>Doctor visits are concentrated at low visit counts. Most records contain zero or relatively few reported visits.</a:t>
            </a:r>
          </a:p>
          <a:p>
            <a:pPr marL="800100" lvl="1" indent="-342900">
              <a:buAutoNum type="arabicPeriod"/>
            </a:pPr>
            <a:r>
              <a:rPr lang="en-IN" sz="1400" dirty="0"/>
              <a:t>Reduced activity shows the strongest positive association among the main numerical variables </a:t>
            </a:r>
            <a:r>
              <a:rPr lang="en-IN" sz="1400" dirty="0" err="1"/>
              <a:t>analyzed</a:t>
            </a:r>
            <a:r>
              <a:rPr lang="en-IN" sz="1400" dirty="0"/>
              <a:t>.</a:t>
            </a:r>
          </a:p>
          <a:p>
            <a:pPr marL="800100" lvl="1" indent="-342900">
              <a:buAutoNum type="arabicPeriod"/>
            </a:pPr>
            <a:r>
              <a:rPr lang="en-IN" sz="1400" dirty="0"/>
              <a:t>Illness also shows a positive association with doctor visits.</a:t>
            </a:r>
          </a:p>
          <a:p>
            <a:pPr marL="800100" lvl="1" indent="-342900">
              <a:buAutoNum type="arabicPeriod"/>
            </a:pPr>
            <a:r>
              <a:rPr lang="en-IN" sz="1400" dirty="0"/>
              <a:t>The health variable and age show weaker positive associations.</a:t>
            </a:r>
          </a:p>
          <a:p>
            <a:pPr marL="800100" lvl="1" indent="-342900">
              <a:buAutoNum type="arabicPeriod"/>
            </a:pPr>
            <a:r>
              <a:rPr lang="en-IN" sz="1400" dirty="0"/>
              <a:t>Income shows a weak negative association with visits.</a:t>
            </a:r>
          </a:p>
          <a:p>
            <a:pPr marL="800100" lvl="1" indent="-342900">
              <a:buAutoNum type="arabicPeriod"/>
            </a:pPr>
            <a:r>
              <a:rPr lang="en-IN" sz="1400" dirty="0"/>
              <a:t> Differences are also observed across gender, chronic-condition indicators, and healthcare-access categories.</a:t>
            </a:r>
          </a:p>
          <a:p>
            <a:pPr lvl="1"/>
            <a:endParaRPr lang="en-IN" sz="1400" dirty="0"/>
          </a:p>
          <a:p>
            <a:pPr marL="285750" indent="-285750">
              <a:buFont typeface="Wingdings" panose="05000000000000000000" pitchFamily="2" charset="2"/>
              <a:buChar char="Ø"/>
            </a:pPr>
            <a:r>
              <a:rPr lang="en-IN" sz="1400" dirty="0"/>
              <a:t>These findings describe statistical associations in this dataset.</a:t>
            </a:r>
          </a:p>
          <a:p>
            <a:pPr marL="285750" indent="-285750">
              <a:buFont typeface="Wingdings" panose="05000000000000000000" pitchFamily="2" charset="2"/>
              <a:buChar char="Ø"/>
            </a:pPr>
            <a:r>
              <a:rPr lang="en-IN" sz="1400" dirty="0"/>
              <a:t>They should not be interpreted as causal or individual medical conclusions.</a:t>
            </a:r>
          </a:p>
        </p:txBody>
      </p:sp>
    </p:spTree>
    <p:extLst>
      <p:ext uri="{BB962C8B-B14F-4D97-AF65-F5344CB8AC3E}">
        <p14:creationId xmlns:p14="http://schemas.microsoft.com/office/powerpoint/2010/main" val="305621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8440E-2777-3ECD-585F-9E8D5B8069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04A552-E4E4-E661-6E04-E85E62C15A8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2703404-FB6E-11C5-A218-4166051759B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688221D-8771-52C3-61A3-91CF8200214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D9262D4-E304-9B7F-DDF9-BAD78379236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8CA0037-21F9-CA1E-FC09-68C8493D9C07}"/>
              </a:ext>
            </a:extLst>
          </p:cNvPr>
          <p:cNvSpPr>
            <a:spLocks noGrp="1"/>
          </p:cNvSpPr>
          <p:nvPr>
            <p:ph type="body" sz="quarter" idx="12"/>
          </p:nvPr>
        </p:nvSpPr>
        <p:spPr>
          <a:xfrm>
            <a:off x="807163" y="1275371"/>
            <a:ext cx="10193629" cy="477520"/>
          </a:xfrm>
        </p:spPr>
        <p:txBody>
          <a:bodyPr>
            <a:normAutofit/>
          </a:bodyPr>
          <a:lstStyle/>
          <a:p>
            <a:pPr marL="0" indent="0">
              <a:buNone/>
            </a:pPr>
            <a:r>
              <a:rPr lang="en-IN" b="1" dirty="0"/>
              <a:t>Generate a Professional Summary Automatically</a:t>
            </a:r>
          </a:p>
        </p:txBody>
      </p:sp>
      <p:pic>
        <p:nvPicPr>
          <p:cNvPr id="3" name="Picture 2">
            <a:extLst>
              <a:ext uri="{FF2B5EF4-FFF2-40B4-BE49-F238E27FC236}">
                <a16:creationId xmlns:a16="http://schemas.microsoft.com/office/drawing/2014/main" id="{AF4D9CB7-F9EE-32E5-8C53-052CA919C9B8}"/>
              </a:ext>
            </a:extLst>
          </p:cNvPr>
          <p:cNvPicPr>
            <a:picLocks noChangeAspect="1"/>
          </p:cNvPicPr>
          <p:nvPr/>
        </p:nvPicPr>
        <p:blipFill>
          <a:blip r:embed="rId3"/>
          <a:stretch>
            <a:fillRect/>
          </a:stretch>
        </p:blipFill>
        <p:spPr>
          <a:xfrm>
            <a:off x="1600389" y="2175649"/>
            <a:ext cx="4892464" cy="4210218"/>
          </a:xfrm>
          <a:prstGeom prst="rect">
            <a:avLst/>
          </a:prstGeom>
        </p:spPr>
      </p:pic>
      <p:sp>
        <p:nvSpPr>
          <p:cNvPr id="9" name="TextBox 8">
            <a:extLst>
              <a:ext uri="{FF2B5EF4-FFF2-40B4-BE49-F238E27FC236}">
                <a16:creationId xmlns:a16="http://schemas.microsoft.com/office/drawing/2014/main" id="{894557C6-783F-20AC-7964-BC9D9EEB5750}"/>
              </a:ext>
            </a:extLst>
          </p:cNvPr>
          <p:cNvSpPr txBox="1"/>
          <p:nvPr/>
        </p:nvSpPr>
        <p:spPr>
          <a:xfrm>
            <a:off x="807163" y="6414551"/>
            <a:ext cx="6102220" cy="307777"/>
          </a:xfrm>
          <a:prstGeom prst="rect">
            <a:avLst/>
          </a:prstGeom>
          <a:noFill/>
        </p:spPr>
        <p:txBody>
          <a:bodyPr wrap="square">
            <a:spAutoFit/>
          </a:bodyPr>
          <a:lstStyle/>
          <a:p>
            <a:r>
              <a:rPr lang="en-IN" sz="1400" dirty="0">
                <a:solidFill>
                  <a:schemeClr val="accent2">
                    <a:lumMod val="75000"/>
                  </a:schemeClr>
                </a:solidFill>
              </a:rPr>
              <a:t>The reference code is in the uploaded google </a:t>
            </a:r>
            <a:r>
              <a:rPr lang="en-IN" sz="1400" dirty="0" err="1">
                <a:solidFill>
                  <a:schemeClr val="accent2">
                    <a:lumMod val="75000"/>
                  </a:schemeClr>
                </a:solidFill>
              </a:rPr>
              <a:t>colab</a:t>
            </a:r>
            <a:r>
              <a:rPr lang="en-IN" sz="1400" dirty="0">
                <a:solidFill>
                  <a:schemeClr val="accent2">
                    <a:lumMod val="75000"/>
                  </a:schemeClr>
                </a:solidFill>
              </a:rPr>
              <a:t> notebook💻</a:t>
            </a:r>
          </a:p>
        </p:txBody>
      </p:sp>
      <p:sp>
        <p:nvSpPr>
          <p:cNvPr id="11" name="TextBox 10">
            <a:extLst>
              <a:ext uri="{FF2B5EF4-FFF2-40B4-BE49-F238E27FC236}">
                <a16:creationId xmlns:a16="http://schemas.microsoft.com/office/drawing/2014/main" id="{4918AFB3-C226-DF7D-C4BD-2743072EE99A}"/>
              </a:ext>
            </a:extLst>
          </p:cNvPr>
          <p:cNvSpPr txBox="1"/>
          <p:nvPr/>
        </p:nvSpPr>
        <p:spPr>
          <a:xfrm>
            <a:off x="950181" y="1839188"/>
            <a:ext cx="4245429" cy="307777"/>
          </a:xfrm>
          <a:prstGeom prst="rect">
            <a:avLst/>
          </a:prstGeom>
          <a:noFill/>
        </p:spPr>
        <p:txBody>
          <a:bodyPr wrap="square" rtlCol="0">
            <a:spAutoFit/>
          </a:bodyPr>
          <a:lstStyle/>
          <a:p>
            <a:r>
              <a:rPr lang="en-IN" sz="1400" dirty="0">
                <a:solidFill>
                  <a:schemeClr val="accent1">
                    <a:lumMod val="50000"/>
                  </a:schemeClr>
                </a:solidFill>
              </a:rPr>
              <a:t>It was the output:</a:t>
            </a:r>
          </a:p>
        </p:txBody>
      </p:sp>
    </p:spTree>
    <p:extLst>
      <p:ext uri="{BB962C8B-B14F-4D97-AF65-F5344CB8AC3E}">
        <p14:creationId xmlns:p14="http://schemas.microsoft.com/office/powerpoint/2010/main" val="3518472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r>
              <a:rPr lang="en-US" sz="4800" b="1" dirty="0">
                <a:solidFill>
                  <a:schemeClr val="tx1"/>
                </a:solidFill>
              </a:rPr>
              <a:t>EXPLANATION</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021962" y="1694647"/>
            <a:ext cx="9691196" cy="4777273"/>
          </a:xfrm>
        </p:spPr>
        <p:txBody>
          <a:bodyPr>
            <a:noAutofit/>
          </a:bodyPr>
          <a:lstStyle/>
          <a:p>
            <a:pPr algn="l"/>
            <a:r>
              <a:rPr lang="en-IN" sz="1400" dirty="0">
                <a:solidFill>
                  <a:schemeClr val="tx1"/>
                </a:solidFill>
              </a:rPr>
              <a:t>Beginning: “I started with a simple question: Why do doctor visits differ between people?”</a:t>
            </a:r>
          </a:p>
          <a:p>
            <a:pPr algn="l"/>
            <a:r>
              <a:rPr lang="en-IN" sz="1400" dirty="0">
                <a:solidFill>
                  <a:schemeClr val="tx1"/>
                </a:solidFill>
              </a:rPr>
              <a:t>After cleaning: “Before finding patterns, I first made sure the dataset was suitable for analysis.”</a:t>
            </a:r>
          </a:p>
          <a:p>
            <a:pPr algn="l"/>
            <a:r>
              <a:rPr lang="en-IN" sz="1400" dirty="0">
                <a:solidFill>
                  <a:schemeClr val="tx1"/>
                </a:solidFill>
              </a:rPr>
              <a:t>Age: “I first investigated demographic characteristics and examined the recorded age values.”</a:t>
            </a:r>
          </a:p>
          <a:p>
            <a:pPr algn="l"/>
            <a:r>
              <a:rPr lang="en-IN" sz="1400" dirty="0">
                <a:solidFill>
                  <a:schemeClr val="tx1"/>
                </a:solidFill>
              </a:rPr>
              <a:t>Illness: “Then I moved from demographics to health. I wanted to know whether illness was associated with doctor visits.”</a:t>
            </a:r>
          </a:p>
          <a:p>
            <a:pPr algn="l"/>
            <a:r>
              <a:rPr lang="en-IN" sz="1400" dirty="0">
                <a:solidFill>
                  <a:schemeClr val="tx1"/>
                </a:solidFill>
              </a:rPr>
              <a:t>Reduced activity: “The next question was whether reduced activity showed a stronger relationship with healthcare utilization.”</a:t>
            </a:r>
          </a:p>
          <a:p>
            <a:pPr algn="l"/>
            <a:r>
              <a:rPr lang="en-IN" sz="1400" dirty="0">
                <a:solidFill>
                  <a:schemeClr val="tx1"/>
                </a:solidFill>
              </a:rPr>
              <a:t>Chronic conditions: “I then examined whether chronic-condition indicators were associated with different visit patterns.”</a:t>
            </a:r>
          </a:p>
          <a:p>
            <a:pPr algn="l"/>
            <a:r>
              <a:rPr lang="en-IN" sz="1400" dirty="0">
                <a:solidFill>
                  <a:schemeClr val="tx1"/>
                </a:solidFill>
              </a:rPr>
              <a:t>Healthcare access: “Finally, I explored whether the healthcare-access variables showed different patterns in doctor visits.”</a:t>
            </a:r>
          </a:p>
          <a:p>
            <a:pPr algn="l"/>
            <a:r>
              <a:rPr lang="en-IN" sz="1400" dirty="0">
                <a:solidFill>
                  <a:schemeClr val="tx1"/>
                </a:solidFill>
              </a:rPr>
              <a:t>Statistics: “After examining the variables individually, I used Spearman correlation to compare their statistical associations with doctor visits.”</a:t>
            </a:r>
          </a:p>
          <a:p>
            <a:pPr algn="l"/>
            <a:r>
              <a:rPr lang="en-IN" sz="1400" dirty="0">
                <a:solidFill>
                  <a:schemeClr val="tx1"/>
                </a:solidFill>
              </a:rPr>
              <a:t>Ending: “The analysis transformed the original healthcare records into a clear analytical story: raw data, questions, evidence, and insights.”</a:t>
            </a:r>
          </a:p>
          <a:p>
            <a:pPr algn="l"/>
            <a:endParaRPr lang="en-IN" sz="1400" dirty="0">
              <a:solidFill>
                <a:schemeClr val="tx1"/>
              </a:solidFill>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41A3-0DD6-39E8-0C32-A0F3D98EF79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16EC914-564C-CAB0-A5CA-4D97379EF41B}"/>
              </a:ext>
            </a:extLst>
          </p:cNvPr>
          <p:cNvSpPr>
            <a:spLocks noGrp="1"/>
          </p:cNvSpPr>
          <p:nvPr>
            <p:ph type="title"/>
          </p:nvPr>
        </p:nvSpPr>
        <p:spPr>
          <a:xfrm>
            <a:off x="469323" y="2142999"/>
            <a:ext cx="9579747"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2B6FB0FA-004E-DDC1-DCEB-4D733E6B53EC}"/>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0408C2F7-08D8-29AE-EC78-55D9F44A550E}"/>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9730F9B3-F282-4492-57B1-CC561B679CD5}"/>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FDDBD038-5792-4F4E-4BD1-E171DC9E8A67}"/>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25338451-CD9F-2CAC-68EA-0C5F790F8C1F}"/>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A7B19286-C067-5849-873F-2FC1D8F30D58}"/>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F00A7C89-1E83-915A-621D-227475024D2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A7C34566-4918-EB02-A575-33AD72E0EDA1}"/>
              </a:ext>
            </a:extLst>
          </p:cNvPr>
          <p:cNvSpPr>
            <a:spLocks noGrp="1"/>
          </p:cNvSpPr>
          <p:nvPr>
            <p:ph type="body" sz="quarter" idx="12"/>
          </p:nvPr>
        </p:nvSpPr>
        <p:spPr>
          <a:xfrm>
            <a:off x="878337" y="6224128"/>
            <a:ext cx="4836824" cy="344312"/>
          </a:xfrm>
        </p:spPr>
        <p:txBody>
          <a:bodyPr>
            <a:normAutofit fontScale="55000" lnSpcReduction="20000"/>
          </a:bodyPr>
          <a:lstStyle/>
          <a:p>
            <a:r>
              <a:rPr lang="en-IN" dirty="0"/>
              <a:t>https://github.com/its-nishar/Healthcare_Analytics_for_Doctor_Visits</a:t>
            </a:r>
          </a:p>
        </p:txBody>
      </p:sp>
    </p:spTree>
    <p:extLst>
      <p:ext uri="{BB962C8B-B14F-4D97-AF65-F5344CB8AC3E}">
        <p14:creationId xmlns:p14="http://schemas.microsoft.com/office/powerpoint/2010/main" val="312474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1854</TotalTime>
  <Words>1627</Words>
  <Application>Microsoft Office PowerPoint</Application>
  <PresentationFormat>Widescreen</PresentationFormat>
  <Paragraphs>181</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Trebuchet MS</vt:lpstr>
      <vt:lpstr>Wingdings</vt:lpstr>
      <vt:lpstr>Wingdings 3</vt:lpstr>
      <vt:lpstr>Facet</vt:lpstr>
      <vt:lpstr>HEALTHCARE ANALYTICS FOR DOCTOR VISITS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EXPLANATION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NISHA R</cp:lastModifiedBy>
  <cp:revision>76</cp:revision>
  <dcterms:created xsi:type="dcterms:W3CDTF">2021-07-11T13:13:15Z</dcterms:created>
  <dcterms:modified xsi:type="dcterms:W3CDTF">2026-09-20T05:07:18Z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